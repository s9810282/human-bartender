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C8406E"/>
        </a:solidFill>
        <a:effectLst/>
        <a:uFillTx/>
        <a:latin typeface="Gmarket Sans TTF Bold"/>
        <a:ea typeface="Gmarket Sans TTF Bold"/>
        <a:cs typeface="Gmarket Sans TTF Bold"/>
        <a:sym typeface="Gmarket Sans TTF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solidFill>
                  <a:schemeClr val="accent1">
                    <a:satOff val="-9155"/>
                    <a:lumOff val="-32673"/>
                  </a:schemeClr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본문 첫 번째 줄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프레젠테이션 제목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xfrm>
            <a:off x="23538179" y="1244548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회색이 비치는 바닥 위의 하얀 곡선형 아치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저자 및 날짜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solidFill>
                  <a:schemeClr val="accent1">
                    <a:satOff val="-9155"/>
                    <a:lumOff val="-32673"/>
                  </a:schemeClr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저자 및 날짜</a:t>
            </a:r>
          </a:p>
        </p:txBody>
      </p:sp>
      <p:sp>
        <p:nvSpPr>
          <p:cNvPr id="23" name="본문 첫 번째 줄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프레젠테이션 제목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낮은 각도에서 바라본 거울로 된 유리창이 있는 고층 건물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43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목재 패널이 있는 천장 일부분의 모습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슬라이드 부제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6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7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7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8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슬라이드 부제</a:t>
            </a:r>
          </a:p>
        </p:txBody>
      </p:sp>
      <p:sp>
        <p:nvSpPr>
          <p:cNvPr id="100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부제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의제 부제</a:t>
            </a:r>
          </a:p>
        </p:txBody>
      </p:sp>
      <p:sp>
        <p:nvSpPr>
          <p:cNvPr id="109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0" indent="457200">
              <a:spcBef>
                <a:spcPts val="6000"/>
              </a:spcBef>
              <a:buSzTx/>
              <a:buNone/>
              <a:defRPr sz="5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0" indent="914400">
              <a:spcBef>
                <a:spcPts val="6000"/>
              </a:spcBef>
              <a:buSzTx/>
              <a:buNone/>
              <a:defRPr sz="5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0" indent="1371600">
              <a:spcBef>
                <a:spcPts val="6000"/>
              </a:spcBef>
              <a:buSzTx/>
              <a:buNone/>
              <a:defRPr sz="5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0" indent="1828800">
              <a:spcBef>
                <a:spcPts val="6000"/>
              </a:spcBef>
              <a:buSzTx/>
              <a:buNone/>
              <a:defRPr sz="5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의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사실 정보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사실 정보</a:t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solidFill>
                  <a:schemeClr val="accent1">
                    <a:satOff val="-9155"/>
                    <a:lumOff val="-32673"/>
                  </a:schemeClr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분홍색과 보라색 하늘 아래 옥외 석재 건물의 복도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곡선 지붕의 흑백 근접 촬영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낮은 각도에서 바라본 금속 나선형 계단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그림자가 있는 초현대적 구조의 하얀 복도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5143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1pPr>
      <a:lvl2pPr marL="9715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2pPr>
      <a:lvl3pPr marL="14287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3pPr>
      <a:lvl4pPr marL="18859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4pPr>
      <a:lvl5pPr marL="23431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5pPr>
      <a:lvl6pPr marL="28003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6pPr>
      <a:lvl7pPr marL="32575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7pPr>
      <a:lvl8pPr marL="37147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8pPr>
      <a:lvl9pPr marL="4171950" marR="0" indent="-51435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500" u="none">
          <a:solidFill>
            <a:srgbClr val="C8406E"/>
          </a:solidFill>
          <a:uFillTx/>
          <a:latin typeface="Gmarket Sans TTF Bold"/>
          <a:ea typeface="Gmarket Sans TTF Bold"/>
          <a:cs typeface="Gmarket Sans TTF Bold"/>
          <a:sym typeface="Gmarket Sans TTF Bold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직사각형"/>
          <p:cNvSpPr/>
          <p:nvPr/>
        </p:nvSpPr>
        <p:spPr>
          <a:xfrm>
            <a:off x="8590140" y="5207954"/>
            <a:ext cx="2264960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sp>
        <p:nvSpPr>
          <p:cNvPr id="172" name="심연의 청강단"/>
          <p:cNvSpPr txBox="1"/>
          <p:nvPr/>
        </p:nvSpPr>
        <p:spPr>
          <a:xfrm>
            <a:off x="8483981" y="5190488"/>
            <a:ext cx="7416039" cy="1304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9500"/>
            </a:pPr>
            <a:r>
              <a:rPr>
                <a:solidFill>
                  <a:srgbClr val="000000"/>
                </a:solidFill>
              </a:rPr>
              <a:t>심연</a:t>
            </a:r>
            <a:r>
              <a:rPr>
                <a:solidFill>
                  <a:srgbClr val="FFFFFF"/>
                </a:solidFill>
              </a:rPr>
              <a:t>의 청강단</a:t>
            </a:r>
          </a:p>
        </p:txBody>
      </p:sp>
      <p:sp>
        <p:nvSpPr>
          <p:cNvPr id="173" name="기말 발표"/>
          <p:cNvSpPr txBox="1"/>
          <p:nvPr/>
        </p:nvSpPr>
        <p:spPr>
          <a:xfrm>
            <a:off x="10299954" y="6744918"/>
            <a:ext cx="3784093" cy="98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7000">
                <a:solidFill>
                  <a:srgbClr val="FFFFFF"/>
                </a:solidFill>
              </a:defRPr>
            </a:lvl1pPr>
          </a:lstStyle>
          <a:p>
            <a:pPr/>
            <a:r>
              <a:t>기말 발표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7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UNA : 사이버펑크 바텐더"/>
          <p:cNvSpPr txBox="1"/>
          <p:nvPr/>
        </p:nvSpPr>
        <p:spPr>
          <a:xfrm>
            <a:off x="6765734" y="2696964"/>
            <a:ext cx="10852532" cy="98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7000">
                <a:solidFill>
                  <a:srgbClr val="FFFFFF"/>
                </a:solidFill>
              </a:defRPr>
            </a:lvl1pPr>
          </a:lstStyle>
          <a:p>
            <a:pPr/>
            <a:r>
              <a:t>LUNA : 사이버펑크 바텐더</a:t>
            </a:r>
          </a:p>
        </p:txBody>
      </p:sp>
      <p:sp>
        <p:nvSpPr>
          <p:cNvPr id="176" name="게임 개요"/>
          <p:cNvSpPr txBox="1"/>
          <p:nvPr/>
        </p:nvSpPr>
        <p:spPr>
          <a:xfrm>
            <a:off x="10168889" y="1229872"/>
            <a:ext cx="4046221" cy="1050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7500"/>
            </a:lvl1pPr>
          </a:lstStyle>
          <a:p>
            <a:pPr/>
            <a:r>
              <a:t>게임 개요</a:t>
            </a:r>
          </a:p>
        </p:txBody>
      </p:sp>
      <p:sp>
        <p:nvSpPr>
          <p:cNvPr id="177" name="바텐더 시뮬레이션 어드벤쳐…"/>
          <p:cNvSpPr txBox="1"/>
          <p:nvPr/>
        </p:nvSpPr>
        <p:spPr>
          <a:xfrm>
            <a:off x="12649141" y="6234773"/>
            <a:ext cx="5195882" cy="382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바텐더 시뮬레이션 어드벤쳐</a:t>
            </a:r>
          </a:p>
          <a:p>
            <a:pPr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PC</a:t>
            </a:r>
          </a:p>
          <a:p>
            <a:pPr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Unity 6</a:t>
            </a:r>
          </a:p>
          <a:p>
            <a:pPr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픽셀</a:t>
            </a:r>
          </a:p>
          <a:p>
            <a:pPr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Va-11 Hall-a, Coffee Talk</a:t>
            </a:r>
          </a:p>
        </p:txBody>
      </p:sp>
      <p:sp>
        <p:nvSpPr>
          <p:cNvPr id="178" name="장르…"/>
          <p:cNvSpPr txBox="1"/>
          <p:nvPr/>
        </p:nvSpPr>
        <p:spPr>
          <a:xfrm>
            <a:off x="9190107" y="6234773"/>
            <a:ext cx="2544752" cy="3903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r"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장르</a:t>
            </a:r>
          </a:p>
          <a:p>
            <a:pPr algn="r"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플랫폼</a:t>
            </a:r>
          </a:p>
          <a:p>
            <a:pPr algn="r"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개발 엔진</a:t>
            </a:r>
          </a:p>
          <a:p>
            <a:pPr algn="r"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아트 풍</a:t>
            </a:r>
          </a:p>
          <a:p>
            <a:pPr algn="r">
              <a:spcBef>
                <a:spcPts val="2000"/>
              </a:spcBef>
              <a:defRPr b="1" sz="3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레퍼런스 게임</a:t>
            </a:r>
          </a:p>
        </p:txBody>
      </p:sp>
      <p:sp>
        <p:nvSpPr>
          <p:cNvPr id="179" name="선"/>
          <p:cNvSpPr/>
          <p:nvPr/>
        </p:nvSpPr>
        <p:spPr>
          <a:xfrm flipV="1">
            <a:off x="12191999" y="5732035"/>
            <a:ext cx="1" cy="4345576"/>
          </a:xfrm>
          <a:prstGeom prst="line">
            <a:avLst/>
          </a:prstGeom>
          <a:ln w="25400">
            <a:solidFill>
              <a:srgbClr val="C72D9E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88C8B2"/>
      </a:dk1>
      <a:lt1>
        <a:srgbClr val="C8406E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C8406E"/>
            </a:solidFill>
            <a:effectLst/>
            <a:uFillTx/>
            <a:latin typeface="Gmarket Sans TTF Bold"/>
            <a:ea typeface="Gmarket Sans TTF Bold"/>
            <a:cs typeface="Gmarket Sans TTF Bold"/>
            <a:sym typeface="Gmarket Sans T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C8406E"/>
            </a:solidFill>
            <a:effectLst/>
            <a:uFillTx/>
            <a:latin typeface="Gmarket Sans TTF Bold"/>
            <a:ea typeface="Gmarket Sans TTF Bold"/>
            <a:cs typeface="Gmarket Sans TTF Bold"/>
            <a:sym typeface="Gmarket Sans T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