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본문 첫 번째 줄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프레젠테이션 제목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xfrm>
            <a:off x="23538179" y="1244548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회색이 비치는 바닥 위의 하얀 곡선형 아치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저자 및 날짜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저자 및 날짜</a:t>
            </a:r>
          </a:p>
        </p:txBody>
      </p:sp>
      <p:sp>
        <p:nvSpPr>
          <p:cNvPr id="23" name="본문 첫 번째 줄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프레젠테이션 제목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낮은 각도에서 바라본 거울로 된 유리창이 있는 고층 건물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슬라이드 제목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슬라이드 제목</a:t>
            </a:r>
          </a:p>
        </p:txBody>
      </p:sp>
      <p:sp>
        <p:nvSpPr>
          <p:cNvPr id="34" name="본문 첫 번째 줄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43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44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목재 패널이 있는 천장 일부분의 모습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슬라이드 부제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62" name="슬라이드 제목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6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72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7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82" name="슬라이드 제목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8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섹션 제목</a:t>
            </a:r>
          </a:p>
        </p:txBody>
      </p:sp>
      <p:sp>
        <p:nvSpPr>
          <p:cNvPr id="9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100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10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의제 부제</a:t>
            </a:r>
          </a:p>
        </p:txBody>
      </p:sp>
      <p:sp>
        <p:nvSpPr>
          <p:cNvPr id="109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의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의제 제목</a:t>
            </a:r>
          </a:p>
        </p:txBody>
      </p:sp>
      <p:sp>
        <p:nvSpPr>
          <p:cNvPr id="1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사실 정보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사실 정보</a:t>
            </a:r>
          </a:p>
        </p:txBody>
      </p:sp>
      <p:sp>
        <p:nvSpPr>
          <p:cNvPr id="12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속성</a:t>
            </a:r>
          </a:p>
        </p:txBody>
      </p:sp>
      <p:sp>
        <p:nvSpPr>
          <p:cNvPr id="136" name="본문 첫 번째 줄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분홍색과 보라색 하늘 아래 옥외 석재 건물의 복도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곡선 지붕의 흑백 근접 촬영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낮은 각도에서 바라본 금속 나선형 계단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그림자가 있는 초현대적 구조의 하얀 복도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직사각형"/>
          <p:cNvSpPr/>
          <p:nvPr/>
        </p:nvSpPr>
        <p:spPr>
          <a:xfrm>
            <a:off x="8590140" y="5207954"/>
            <a:ext cx="2264960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/>
          <p:cNvSpPr txBox="1"/>
          <p:nvPr/>
        </p:nvSpPr>
        <p:spPr>
          <a:xfrm>
            <a:off x="8836380" y="5026014"/>
            <a:ext cx="6711240" cy="1633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b="1" sz="9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000000"/>
                </a:solidFill>
              </a:rPr>
              <a:t>심연</a:t>
            </a:r>
            <a:r>
              <a:t>의 청강단</a:t>
            </a:r>
          </a:p>
        </p:txBody>
      </p:sp>
      <p:sp>
        <p:nvSpPr>
          <p:cNvPr id="173" name="중간 시연 피드백"/>
          <p:cNvSpPr txBox="1"/>
          <p:nvPr/>
        </p:nvSpPr>
        <p:spPr>
          <a:xfrm>
            <a:off x="9196409" y="6621721"/>
            <a:ext cx="5991182" cy="1230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7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중간 시연 피드백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모서리가 둥근 직사각형"/>
          <p:cNvSpPr/>
          <p:nvPr/>
        </p:nvSpPr>
        <p:spPr>
          <a:xfrm>
            <a:off x="21155995" y="5863490"/>
            <a:ext cx="2593687" cy="1270001"/>
          </a:xfrm>
          <a:prstGeom prst="roundRect">
            <a:avLst>
              <a:gd name="adj" fmla="val 15000"/>
            </a:avLst>
          </a:prstGeom>
          <a:solidFill>
            <a:srgbClr val="1B491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6" name="모서리가 둥근 직사각형"/>
          <p:cNvSpPr/>
          <p:nvPr/>
        </p:nvSpPr>
        <p:spPr>
          <a:xfrm>
            <a:off x="634318" y="5863490"/>
            <a:ext cx="2593688" cy="1270001"/>
          </a:xfrm>
          <a:prstGeom prst="roundRect">
            <a:avLst>
              <a:gd name="adj" fmla="val 15000"/>
            </a:avLst>
          </a:prstGeom>
          <a:solidFill>
            <a:srgbClr val="59BD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rgbClr val="4EABBD"/>
                </a:solidFill>
              </a:defRPr>
            </a:pPr>
          </a:p>
        </p:txBody>
      </p:sp>
      <p:pic>
        <p:nvPicPr>
          <p:cNvPr id="177" name="직사각형 직사각형" descr="직사각형 직사각형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3016" y="2566825"/>
            <a:ext cx="4708593" cy="8806480"/>
          </a:xfrm>
          <a:prstGeom prst="rect">
            <a:avLst/>
          </a:prstGeom>
        </p:spPr>
      </p:pic>
      <p:pic>
        <p:nvPicPr>
          <p:cNvPr id="179" name="직사각형 직사각형" descr="직사각형 직사각형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50411" y="2566825"/>
            <a:ext cx="4708593" cy="8806480"/>
          </a:xfrm>
          <a:prstGeom prst="rect">
            <a:avLst/>
          </a:prstGeom>
        </p:spPr>
      </p:pic>
      <p:pic>
        <p:nvPicPr>
          <p:cNvPr id="181" name="직사각형 직사각형" descr="직사각형 직사각형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66247" y="2566825"/>
            <a:ext cx="4708592" cy="8806480"/>
          </a:xfrm>
          <a:prstGeom prst="rect">
            <a:avLst/>
          </a:prstGeom>
        </p:spPr>
      </p:pic>
      <p:sp>
        <p:nvSpPr>
          <p:cNvPr id="183" name="중간 시연 플로우"/>
          <p:cNvSpPr txBox="1"/>
          <p:nvPr/>
        </p:nvSpPr>
        <p:spPr>
          <a:xfrm>
            <a:off x="9616187" y="661713"/>
            <a:ext cx="5151627" cy="1069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중간 시연 플로우</a:t>
            </a:r>
          </a:p>
        </p:txBody>
      </p:sp>
      <p:sp>
        <p:nvSpPr>
          <p:cNvPr id="184" name="포트와 대화"/>
          <p:cNvSpPr txBox="1"/>
          <p:nvPr/>
        </p:nvSpPr>
        <p:spPr>
          <a:xfrm>
            <a:off x="5586553" y="2866499"/>
            <a:ext cx="1867980" cy="58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포트와 대화</a:t>
            </a:r>
          </a:p>
        </p:txBody>
      </p:sp>
      <p:pic>
        <p:nvPicPr>
          <p:cNvPr id="185" name="붙여넣은 동영상.png" descr="붙여넣은 동영상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51874" y="4147545"/>
            <a:ext cx="3137339" cy="28462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붙여넣은 동영상.png" descr="붙여넣은 동영상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908253" y="4147545"/>
            <a:ext cx="1792911" cy="2846246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부비와 대화"/>
          <p:cNvSpPr txBox="1"/>
          <p:nvPr/>
        </p:nvSpPr>
        <p:spPr>
          <a:xfrm>
            <a:off x="16870719" y="2866499"/>
            <a:ext cx="1867980" cy="58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부비와 대화</a:t>
            </a:r>
          </a:p>
        </p:txBody>
      </p:sp>
      <p:sp>
        <p:nvSpPr>
          <p:cNvPr id="188" name="부비와의 만남"/>
          <p:cNvSpPr txBox="1"/>
          <p:nvPr/>
        </p:nvSpPr>
        <p:spPr>
          <a:xfrm>
            <a:off x="11038539" y="2866499"/>
            <a:ext cx="2197545" cy="58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부비와의 만남</a:t>
            </a:r>
          </a:p>
        </p:txBody>
      </p:sp>
      <p:sp>
        <p:nvSpPr>
          <p:cNvPr id="189" name="게임 종료"/>
          <p:cNvSpPr txBox="1"/>
          <p:nvPr/>
        </p:nvSpPr>
        <p:spPr>
          <a:xfrm>
            <a:off x="21588039" y="6165428"/>
            <a:ext cx="1775767" cy="666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게임 종료</a:t>
            </a:r>
          </a:p>
        </p:txBody>
      </p:sp>
      <p:sp>
        <p:nvSpPr>
          <p:cNvPr id="190" name="게임 시작"/>
          <p:cNvSpPr txBox="1"/>
          <p:nvPr/>
        </p:nvSpPr>
        <p:spPr>
          <a:xfrm>
            <a:off x="1043278" y="6165428"/>
            <a:ext cx="1775768" cy="666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게임 시작</a:t>
            </a:r>
          </a:p>
        </p:txBody>
      </p:sp>
      <p:pic>
        <p:nvPicPr>
          <p:cNvPr id="191" name="스크린샷 2026-04-21 오전 12.03.38.png" descr="스크린샷 2026-04-21 오전 12.03.38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833816" y="4407701"/>
            <a:ext cx="4606993" cy="2349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화살표 화살표" descr="화살표 화살표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937497" y="5995127"/>
            <a:ext cx="833661" cy="1006726"/>
          </a:xfrm>
          <a:prstGeom prst="rect">
            <a:avLst/>
          </a:prstGeom>
        </p:spPr>
      </p:pic>
      <p:sp>
        <p:nvSpPr>
          <p:cNvPr id="194" name="칵테일 제작 1회…"/>
          <p:cNvSpPr txBox="1"/>
          <p:nvPr/>
        </p:nvSpPr>
        <p:spPr>
          <a:xfrm>
            <a:off x="5424009" y="9866726"/>
            <a:ext cx="2154382" cy="1196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칵테일 제작 1회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표정 애니메이션 5종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대화 선택지 2개</a:t>
            </a:r>
          </a:p>
        </p:txBody>
      </p:sp>
      <p:sp>
        <p:nvSpPr>
          <p:cNvPr id="195" name="바 내부"/>
          <p:cNvSpPr txBox="1"/>
          <p:nvPr/>
        </p:nvSpPr>
        <p:spPr>
          <a:xfrm>
            <a:off x="6007331" y="3319572"/>
            <a:ext cx="1026425" cy="504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2500">
                <a:solidFill>
                  <a:srgbClr val="A9A9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바 내부</a:t>
            </a:r>
          </a:p>
        </p:txBody>
      </p:sp>
      <p:sp>
        <p:nvSpPr>
          <p:cNvPr id="196" name="외부"/>
          <p:cNvSpPr txBox="1"/>
          <p:nvPr/>
        </p:nvSpPr>
        <p:spPr>
          <a:xfrm>
            <a:off x="11805524" y="3324338"/>
            <a:ext cx="6635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2500">
                <a:solidFill>
                  <a:srgbClr val="A9A9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외부</a:t>
            </a:r>
          </a:p>
        </p:txBody>
      </p:sp>
      <p:sp>
        <p:nvSpPr>
          <p:cNvPr id="197" name="바 내부"/>
          <p:cNvSpPr txBox="1"/>
          <p:nvPr/>
        </p:nvSpPr>
        <p:spPr>
          <a:xfrm>
            <a:off x="17291496" y="3319572"/>
            <a:ext cx="1026425" cy="504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2500">
                <a:solidFill>
                  <a:srgbClr val="A9A9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바 내부</a:t>
            </a:r>
          </a:p>
        </p:txBody>
      </p:sp>
      <p:sp>
        <p:nvSpPr>
          <p:cNvPr id="198" name="주요 이벤트"/>
          <p:cNvSpPr txBox="1"/>
          <p:nvPr/>
        </p:nvSpPr>
        <p:spPr>
          <a:xfrm>
            <a:off x="5713350" y="9307911"/>
            <a:ext cx="1575700" cy="504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1000"/>
              </a:spcBef>
              <a:defRPr b="1" sz="2500">
                <a:solidFill>
                  <a:srgbClr val="C8406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주요 이벤트</a:t>
            </a:r>
          </a:p>
        </p:txBody>
      </p:sp>
      <p:sp>
        <p:nvSpPr>
          <p:cNvPr id="199" name="바의 첫 손님인 포트가 루나에게…"/>
          <p:cNvSpPr txBox="1"/>
          <p:nvPr/>
        </p:nvSpPr>
        <p:spPr>
          <a:xfrm>
            <a:off x="4709714" y="7875746"/>
            <a:ext cx="3621659" cy="1196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바의 첫 손님인 포트가 루나에게 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칵테일을 주문하고, 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바텐더로서의 자질을 확인하는 장면</a:t>
            </a:r>
          </a:p>
        </p:txBody>
      </p:sp>
      <p:sp>
        <p:nvSpPr>
          <p:cNvPr id="200" name="내용"/>
          <p:cNvSpPr txBox="1"/>
          <p:nvPr/>
        </p:nvSpPr>
        <p:spPr>
          <a:xfrm>
            <a:off x="6188755" y="7321697"/>
            <a:ext cx="6635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1000"/>
              </a:spcBef>
              <a:defRPr b="1" sz="2500">
                <a:solidFill>
                  <a:srgbClr val="59C3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내용</a:t>
            </a:r>
          </a:p>
        </p:txBody>
      </p:sp>
      <p:sp>
        <p:nvSpPr>
          <p:cNvPr id="201" name="캐릭터 애니메이션"/>
          <p:cNvSpPr txBox="1"/>
          <p:nvPr/>
        </p:nvSpPr>
        <p:spPr>
          <a:xfrm>
            <a:off x="11146694" y="9984683"/>
            <a:ext cx="1942550" cy="424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캐릭터 애니메이션</a:t>
            </a:r>
          </a:p>
        </p:txBody>
      </p:sp>
      <p:sp>
        <p:nvSpPr>
          <p:cNvPr id="202" name="주요 이벤트"/>
          <p:cNvSpPr txBox="1"/>
          <p:nvPr/>
        </p:nvSpPr>
        <p:spPr>
          <a:xfrm>
            <a:off x="11330119" y="9307911"/>
            <a:ext cx="1575700" cy="504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1000"/>
              </a:spcBef>
              <a:defRPr b="1" sz="2500">
                <a:solidFill>
                  <a:srgbClr val="C8406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주요 이벤트</a:t>
            </a:r>
          </a:p>
        </p:txBody>
      </p:sp>
      <p:sp>
        <p:nvSpPr>
          <p:cNvPr id="203" name="밖에서 자고 있는 부비를…"/>
          <p:cNvSpPr txBox="1"/>
          <p:nvPr/>
        </p:nvSpPr>
        <p:spPr>
          <a:xfrm>
            <a:off x="10875757" y="7875746"/>
            <a:ext cx="2523109" cy="81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밖에서 자고 있는 부비를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루나가 데려오는 장면</a:t>
            </a:r>
          </a:p>
        </p:txBody>
      </p:sp>
      <p:sp>
        <p:nvSpPr>
          <p:cNvPr id="204" name="내용"/>
          <p:cNvSpPr txBox="1"/>
          <p:nvPr/>
        </p:nvSpPr>
        <p:spPr>
          <a:xfrm>
            <a:off x="11805524" y="7321697"/>
            <a:ext cx="6635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1000"/>
              </a:spcBef>
              <a:defRPr b="1" sz="2500">
                <a:solidFill>
                  <a:srgbClr val="59C3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내용</a:t>
            </a:r>
          </a:p>
        </p:txBody>
      </p:sp>
      <p:sp>
        <p:nvSpPr>
          <p:cNvPr id="205" name="칵테일 제작 1회…"/>
          <p:cNvSpPr txBox="1"/>
          <p:nvPr/>
        </p:nvSpPr>
        <p:spPr>
          <a:xfrm>
            <a:off x="16708174" y="9866726"/>
            <a:ext cx="2154383" cy="1196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칵테일 제작 1회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표정 애니메이션 1종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리액션 컷씬 1개</a:t>
            </a:r>
          </a:p>
        </p:txBody>
      </p:sp>
      <p:sp>
        <p:nvSpPr>
          <p:cNvPr id="206" name="주요 이벤트"/>
          <p:cNvSpPr txBox="1"/>
          <p:nvPr/>
        </p:nvSpPr>
        <p:spPr>
          <a:xfrm>
            <a:off x="16997515" y="9307911"/>
            <a:ext cx="1575701" cy="504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1000"/>
              </a:spcBef>
              <a:defRPr b="1" sz="2500">
                <a:solidFill>
                  <a:srgbClr val="C8406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주요 이벤트</a:t>
            </a:r>
          </a:p>
        </p:txBody>
      </p:sp>
      <p:sp>
        <p:nvSpPr>
          <p:cNvPr id="207" name="밖에서 데려온 부비에게…"/>
          <p:cNvSpPr txBox="1"/>
          <p:nvPr/>
        </p:nvSpPr>
        <p:spPr>
          <a:xfrm>
            <a:off x="16468584" y="7875746"/>
            <a:ext cx="2672249" cy="81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밖에서 데려온 부비에게</a:t>
            </a:r>
          </a:p>
          <a:p>
            <a:pPr algn="ctr">
              <a:spcBef>
                <a:spcPts val="500"/>
              </a:spcBef>
              <a:defRPr sz="2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칵테일을 만들어주는 장면</a:t>
            </a:r>
          </a:p>
        </p:txBody>
      </p:sp>
      <p:sp>
        <p:nvSpPr>
          <p:cNvPr id="208" name="내용"/>
          <p:cNvSpPr txBox="1"/>
          <p:nvPr/>
        </p:nvSpPr>
        <p:spPr>
          <a:xfrm>
            <a:off x="17472921" y="7321697"/>
            <a:ext cx="6635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1000"/>
              </a:spcBef>
              <a:defRPr b="1" sz="2500">
                <a:solidFill>
                  <a:srgbClr val="59C3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내용</a:t>
            </a:r>
          </a:p>
        </p:txBody>
      </p:sp>
      <p:pic>
        <p:nvPicPr>
          <p:cNvPr id="209" name="화살표 화살표" descr="화살표 화살표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4554179" y="5995127"/>
            <a:ext cx="833661" cy="1006726"/>
          </a:xfrm>
          <a:prstGeom prst="rect">
            <a:avLst/>
          </a:prstGeom>
        </p:spPr>
      </p:pic>
      <p:pic>
        <p:nvPicPr>
          <p:cNvPr id="211" name="화살표 화살표" descr="화살표 화살표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0272376" y="5995127"/>
            <a:ext cx="833661" cy="1006726"/>
          </a:xfrm>
          <a:prstGeom prst="rect">
            <a:avLst/>
          </a:prstGeom>
        </p:spPr>
      </p:pic>
      <p:pic>
        <p:nvPicPr>
          <p:cNvPr id="213" name="화살표 화살표" descr="화살표 화살표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307109" y="5995127"/>
            <a:ext cx="833661" cy="1006726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칵테일 제작 연출"/>
          <p:cNvSpPr txBox="1"/>
          <p:nvPr/>
        </p:nvSpPr>
        <p:spPr>
          <a:xfrm>
            <a:off x="9616187" y="661713"/>
            <a:ext cx="5151627" cy="1069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칵테일 제작 연출</a:t>
            </a:r>
          </a:p>
        </p:txBody>
      </p:sp>
      <p:pic>
        <p:nvPicPr>
          <p:cNvPr id="217" name="스크린샷 2026-04-21 오전 12.35.02.png" descr="스크린샷 2026-04-21 오전 12.35.0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16574" y="3980825"/>
            <a:ext cx="8853467" cy="5754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붙여넣은 동영상.png" descr="붙여넣은 동영상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50429" y="2662221"/>
            <a:ext cx="9538666" cy="38710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스크린샷 2026-04-21 오전 12.35.53.png" descr="스크린샷 2026-04-21 오전 12.35.5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50429" y="6704758"/>
            <a:ext cx="9538666" cy="53304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빌드 영상"/>
          <p:cNvSpPr txBox="1"/>
          <p:nvPr/>
        </p:nvSpPr>
        <p:spPr>
          <a:xfrm>
            <a:off x="10710735" y="482363"/>
            <a:ext cx="2962529" cy="1069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빌드 영상</a:t>
            </a:r>
          </a:p>
        </p:txBody>
      </p:sp>
      <p:pic>
        <p:nvPicPr>
          <p:cNvPr id="222" name="스크린샷 2026-04-21 오전 1.31.07.png" descr="스크린샷 2026-04-21 오전 1.31.0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3921" y="1928301"/>
            <a:ext cx="18416158" cy="102938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