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fb0e62bbdf4909" /><Relationship Type="http://schemas.openxmlformats.org/officeDocument/2006/relationships/extended-properties" Target="/docProps/app.xml" Id="R53fd7f88f0d74615" /><Relationship Type="http://schemas.openxmlformats.org/officeDocument/2006/relationships/officeDocument" Target="/ppt/presentation.xml" Id="R2f78f3e7b23741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e8fd5601034d07"/>
  </p:sldMasterIdLst>
  <p:notesMasterIdLst>
    <p:notesMasterId xmlns:r="http://schemas.openxmlformats.org/officeDocument/2006/relationships" r:id="R10e25100f4cb43e9"/>
  </p:notesMasterIdLst>
  <p:sldIdLst>
    <p:sldId xmlns:r="http://schemas.openxmlformats.org/officeDocument/2006/relationships" id="256" r:id="Rc1cd49cf48484fe4"/>
    <p:sldId xmlns:r="http://schemas.openxmlformats.org/officeDocument/2006/relationships" id="257" r:id="R91a5ea8106ac4ab9"/>
    <p:sldId xmlns:r="http://schemas.openxmlformats.org/officeDocument/2006/relationships" id="258" r:id="R51473c09cd7c437c"/>
    <p:sldId xmlns:r="http://schemas.openxmlformats.org/officeDocument/2006/relationships" id="259" r:id="R55abdfe7a7964880"/>
    <p:sldId xmlns:r="http://schemas.openxmlformats.org/officeDocument/2006/relationships" id="260" r:id="Rce7cd29a8a784161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2846dc5b094fd9" /><Relationship Type="http://schemas.openxmlformats.org/officeDocument/2006/relationships/slideMaster" Target="/ppt/slideMasters/slideMaster1.xml" Id="R58e8fd5601034d07" /><Relationship Type="http://schemas.openxmlformats.org/officeDocument/2006/relationships/notesMaster" Target="/ppt/notesMasters/notesMaster1.xml" Id="R10e25100f4cb43e9" /><Relationship Type="http://schemas.openxmlformats.org/officeDocument/2006/relationships/presProps" Target="/ppt/presProps.xml" Id="Rd6018bc2636c4fe4" /><Relationship Type="http://schemas.openxmlformats.org/officeDocument/2006/relationships/tableStyles" Target="/ppt/tableStyles.xml" Id="Rb83ec3520a7a4fd8" /><Relationship Type="http://schemas.openxmlformats.org/officeDocument/2006/relationships/slide" Target="/ppt/slides/slide1.xml" Id="Rc1cd49cf48484fe4" /><Relationship Type="http://schemas.openxmlformats.org/officeDocument/2006/relationships/slide" Target="/ppt/slides/slide2.xml" Id="R91a5ea8106ac4ab9" /><Relationship Type="http://schemas.openxmlformats.org/officeDocument/2006/relationships/slide" Target="/ppt/slides/slide3.xml" Id="R51473c09cd7c437c" /><Relationship Type="http://schemas.openxmlformats.org/officeDocument/2006/relationships/slide" Target="/ppt/slides/slide4.xml" Id="R55abdfe7a7964880" /><Relationship Type="http://schemas.openxmlformats.org/officeDocument/2006/relationships/slide" Target="/ppt/slides/slide5.xml" Id="Rce7cd29a8a7841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adb3f99e884d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b749686d744a1" /><Relationship Type="http://schemas.openxmlformats.org/officeDocument/2006/relationships/notesMaster" Target="/ppt/notesMasters/notesMaster1.xml" Id="Ra926890d83754a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c749070f904fdf" /><Relationship Type="http://schemas.openxmlformats.org/officeDocument/2006/relationships/notesMaster" Target="/ppt/notesMasters/notesMaster1.xml" Id="R125397aedc7e43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c5334aca4248b6" /><Relationship Type="http://schemas.openxmlformats.org/officeDocument/2006/relationships/notesMaster" Target="/ppt/notesMasters/notesMaster1.xml" Id="Rc348ed5f4dc14c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4f5fab47b448e0" /><Relationship Type="http://schemas.openxmlformats.org/officeDocument/2006/relationships/notesMaster" Target="/ppt/notesMasters/notesMaster1.xml" Id="R550ead4eac9444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378dd192854918" /><Relationship Type="http://schemas.openxmlformats.org/officeDocument/2006/relationships/notesMaster" Target="/ppt/notesMasters/notesMaster1.xml" Id="R0072e4a2c71245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게임을 단순히 보거나 듣는 것이 아니라, 플레이어가 직접 선택하고 결과를 받는 매체라는 점을 던진다.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시각 템플릿 맟 레이아웃: 사용자 제공 Keynote 5종</a:t>
            </a:r>
          </a:p>
          <a:p xmlns:a="http://schemas.openxmlformats.org/drawingml/2006/main">
            <a:r>
              <a:t>- 주 레이아웃: 심연의청강단_게임컨셉발표.key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게임을 구성하는 핵심은 플레이어가 판단하고 시스템이 반응하는 경험이다. 핵심은 규칙을 만들고, 결과적으로 자신의 이야기를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시각 템플릿 맟 레이아웃: 사용자 제공 Keynote 5종</a:t>
            </a:r>
          </a:p>
          <a:p xmlns:a="http://schemas.openxmlformats.org/drawingml/2006/main">
            <a:r>
              <a:t>- 주 레이아웃: 심연의청강단_게임컨셉발표.key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규칙은 가능한 행동을 제한하고, 선택은 의미 있는 판단을 고르며, 피드백은 결과를 나타낸다. 이 세 가지가 이어질 때 게임이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시각 템플릿 맟 레이아웃: 사용자 제공 Keynote 5종</a:t>
            </a:r>
          </a:p>
          <a:p xmlns:a="http://schemas.openxmlformats.org/drawingml/2006/main">
            <a:r>
              <a:t>- 주 레이아웃: 심연의청강단_게임컨셉발표.key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게임 디자인의 핵심은 플레이어가 반복할 정답을 맞히는 것이다. 구경하는 판단을 제공하고, 다야한 결과를 학습하게 연결시키는 구조이다.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시각 템플릿 맟 레이아웃: 사용자 제공 Keynote 5종</a:t>
            </a:r>
          </a:p>
          <a:p xmlns:a="http://schemas.openxmlformats.org/drawingml/2006/main">
            <a:r>
              <a:t>- 주 레이아웃: 심연의청강단_게임컨셉발표.key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게임은 작자가 정해진 이야기를 읽는 것이 아니라, 플레이어가 선택한 의미와 결과가 경험을 완성한다고 마무리한다.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시각 템플릿 맟 레이아웃: 사용자 제공 Keynote 5종</a:t>
            </a:r>
          </a:p>
          <a:p xmlns:a="http://schemas.openxmlformats.org/drawingml/2006/main">
            <a:r>
              <a:t>- 주 레이아웃: 심연의청강단_게임컨셉발표.key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eaf2b08e34282" /><Relationship Type="http://schemas.openxmlformats.org/officeDocument/2006/relationships/image" Target="/ppt/media/image2.png" Id="R7cf1022c54914e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fc390624a40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8d5ff716747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c75187ad048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ebb2c5e9d48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d490b08c1474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99e525d394d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2605d81c9421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13355d6a34168" /><Relationship Type="http://schemas.openxmlformats.org/officeDocument/2006/relationships/image" Target="/ppt/media/image2.png" Id="R104ea14925f143e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7bf8e334d40b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ad61ac6304ea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da44095154c62" /><Relationship Type="http://schemas.openxmlformats.org/officeDocument/2006/relationships/image" Target="/ppt/media/image2.png" Id="Reb229e5585fe4be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bbee1d3544c4c" /><Relationship Type="http://schemas.openxmlformats.org/officeDocument/2006/relationships/image" Target="/ppt/media/image2.png" Id="R10fe21d1f5e94ae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1486e6fb54bb9" /><Relationship Type="http://schemas.openxmlformats.org/officeDocument/2006/relationships/image" Target="/ppt/media/image2.png" Id="R645baab3a37644c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c5f70f9fc45f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d7f45d16b449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226e248ff41c0" /><Relationship Type="http://schemas.openxmlformats.org/officeDocument/2006/relationships/image" Target="/ppt/media/image2.png" Id="Rc0ce2fd153844f8a" /></Relationships>
</file>

<file path=ppt/slideLayouts/slideLayout1.xml><?xml version="1.0" encoding="utf-8"?>
<p:sldLayout xmlns:p="http://schemas.openxmlformats.org/presentationml/2006/main" showMasterSp="1" showMasterPhAnim="1" type="title">
  <p:cSld name="제목">
    <p:bg>
      <p:bgPr>
        <a:blipFill xmlns:a="http://schemas.openxmlformats.org/drawingml/2006/main" rotWithShape="1">
          <a:blip xmlns:r="http://schemas.openxmlformats.org/officeDocument/2006/relationships" r:embed="R7cf1022c54914e4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저자 및 날짜">
            <a:extLst xmlns:a="http://schemas.openxmlformats.org/drawingml/2006/main">
              <a:ext uri="{FF2B5EF4-FFF2-40B4-BE49-F238E27FC236}">
                <a16:creationId xmlns:a16="http://schemas.microsoft.com/office/drawing/2014/main" id="{07552635-AF65-49E5-9487-FD3F173F1CA7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12268950"/>
            <a:ext cx="21971000" cy="6604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 anchor="b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저자 및 날짜</a:t>
            </a:r>
          </a:p>
        </p:txBody>
      </p:sp>
      <p:sp>
        <p:nvSpPr>
          <p:cNvPr id="1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962CEA8D-2CB7-4994-8DB1-B30BB698A6E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353300"/>
            <a:ext cx="219710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프레젠테이션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3" name="프레젠테이션 제목">
            <a:extLst xmlns:a="http://schemas.openxmlformats.org/drawingml/2006/main">
              <a:ext uri="{FF2B5EF4-FFF2-40B4-BE49-F238E27FC236}">
                <a16:creationId xmlns:a16="http://schemas.microsoft.com/office/drawing/2014/main" id="{60D41070-399B-4873-B487-1DE051B17C2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26162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defTabSz="355600"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프레젠테이션 제목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44D20C4F-E22F-4BC8-A340-5C232C43361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23538179" y="12445480"/>
            <a:ext cx="408941" cy="4445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제목 및 사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회색이 비치는 바닥 위의 하얀 곡선형 아치">
            <a:extLst xmlns:a="http://schemas.openxmlformats.org/drawingml/2006/main">
              <a:ext uri="{FF2B5EF4-FFF2-40B4-BE49-F238E27FC236}">
                <a16:creationId xmlns:a16="http://schemas.microsoft.com/office/drawing/2014/main" id="{4C46F008-EB64-4597-B5B1-917E158B5170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76200" y="-558800"/>
            <a:ext cx="24574500" cy="14839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저자 및 날짜">
            <a:extLst xmlns:a="http://schemas.openxmlformats.org/drawingml/2006/main">
              <a:ext uri="{FF2B5EF4-FFF2-40B4-BE49-F238E27FC236}">
                <a16:creationId xmlns:a16="http://schemas.microsoft.com/office/drawing/2014/main" id="{72A309B1-150C-47AD-9E4C-88CB4D5E06FB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206500" y="12268200"/>
            <a:ext cx="219710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 anchor="b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저자 및 날짜</a:t>
            </a:r>
          </a:p>
        </p:txBody>
      </p:sp>
      <p:sp>
        <p:nvSpPr>
          <p:cNvPr id="2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584618B0-D2EF-4380-A1F9-0307F15B530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353300"/>
            <a:ext cx="219710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프레젠테이션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24" name="프레젠테이션 제목">
            <a:extLst xmlns:a="http://schemas.openxmlformats.org/drawingml/2006/main">
              <a:ext uri="{FF2B5EF4-FFF2-40B4-BE49-F238E27FC236}">
                <a16:creationId xmlns:a16="http://schemas.microsoft.com/office/drawing/2014/main" id="{AF5A2AED-A035-4258-8E85-07760C65DE4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26162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defTabSz="355600"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프레젠테이션 제목</a:t>
            </a:r>
          </a:p>
        </p:txBody>
      </p:sp>
      <p:sp>
        <p:nvSpPr>
          <p:cNvPr id="2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A056DFD2-9ADE-47E2-92A8-5A893B8ABED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제목 및 사진 대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낮은 각도에서 바라본 거울로 된 유리창이 있는 고층 건물">
            <a:extLst xmlns:a="http://schemas.openxmlformats.org/drawingml/2006/main">
              <a:ext uri="{FF2B5EF4-FFF2-40B4-BE49-F238E27FC236}">
                <a16:creationId xmlns:a16="http://schemas.microsoft.com/office/drawing/2014/main" id="{3EA2C8DE-A6C9-46C0-B4F6-5F566696FF44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8140700" y="-1"/>
            <a:ext cx="20574000" cy="13716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414E3B6C-EE04-4336-9045-13194C120E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333500"/>
            <a:ext cx="9779000" cy="5882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34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71BE9149-76D5-49CD-9922-FA5FB5B48B4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150100"/>
            <a:ext cx="9779000" cy="5385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3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BCA73F9-E58E-4BD1-8EA0-B8DF8503C1E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1">
  <p:cSld name="제목 및 구분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C3DB8110-C61D-45FA-9EEF-A399CBF8AD1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43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25958700-5958-49FC-BDB7-93795B5CD02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44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658BFDBB-8BD8-4531-A89B-4B6DA82C12A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7E98B257-FDBD-490F-A8ED-B41BD81A23C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1">
  <p:cSld name="구분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F746CC40-A363-407E-8AD7-147E15852B1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53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3F8A8FD-136B-4FFD-8A71-3BD4453A950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1">
  <p:cSld name="제목, 구분점 및 사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목재 패널이 있는 천장 일부분의 모습">
            <a:extLst xmlns:a="http://schemas.openxmlformats.org/drawingml/2006/main">
              <a:ext uri="{FF2B5EF4-FFF2-40B4-BE49-F238E27FC236}">
                <a16:creationId xmlns:a16="http://schemas.microsoft.com/office/drawing/2014/main" id="{A43FF14A-44CB-451C-8A29-9C00B0A5534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588500" y="-482600"/>
            <a:ext cx="21513800" cy="143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EB35C123-0090-41DA-95FE-58ABD3148C3C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206500" y="2324100"/>
            <a:ext cx="9779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6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198D24C4-1D50-44FE-8CD3-6E11EDC14FD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9779000" cy="168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6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9B5B19CF-3890-466A-9B2A-0D9FB37D186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6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E879593-C32A-4DE1-AAE2-5BF6FE74B21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1">
  <p:cSld name="제목, 구분점 및 작은 라이브 비디오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EA5B8145-560F-4C3C-9161-09324EA9E280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7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E48B9825-7ACD-465F-B13A-645FD41263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7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3CDA8E66-1DDC-42E8-B404-4AA621BCEC2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7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C644D78-CD4D-420F-96B5-A73A34771D2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1">
  <p:cSld name="제목, 구분점 및 큰 라이브 비디오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B0A244CE-B14D-4A84-B269-F96B7ACAFFAA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9779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8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F33B98F8-D4B2-46C5-9F8C-A4704B6237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9779000" cy="168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8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4CA3F006-BDA3-4B28-9BAD-8D558F806AB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8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FD93DA9F-BA9C-49D7-922E-2CEA038FD27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1">
  <p:cSld name="섹션">
    <p:bg>
      <p:bgPr>
        <a:blipFill xmlns:a="http://schemas.openxmlformats.org/drawingml/2006/main" rotWithShape="1">
          <a:blip xmlns:r="http://schemas.openxmlformats.org/officeDocument/2006/relationships" r:embed="R104ea14925f143e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섹션 제목">
            <a:extLst xmlns:a="http://schemas.openxmlformats.org/drawingml/2006/main">
              <a:ext uri="{FF2B5EF4-FFF2-40B4-BE49-F238E27FC236}">
                <a16:creationId xmlns:a16="http://schemas.microsoft.com/office/drawing/2014/main" id="{A0B35DC5-526A-4EA6-BC8B-618603885F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496" y="39116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섹션 제목</a:t>
            </a:r>
          </a:p>
        </p:txBody>
      </p:sp>
      <p:sp>
        <p:nvSpPr>
          <p:cNvPr id="9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66B5BCE1-87E7-4A3D-A510-E63821E5053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1">
  <p:cSld name="제목 전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70BDEF4B-90AD-4381-8816-032D2857999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100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14F15E28-7B0E-4C22-BCF1-2D92C6297C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10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E98DE1D-C13F-451A-B49B-F0BB05E2FED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1">
  <p:cSld name="의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의제 부제">
            <a:extLst xmlns:a="http://schemas.openxmlformats.org/drawingml/2006/main">
              <a:ext uri="{FF2B5EF4-FFF2-40B4-BE49-F238E27FC236}">
                <a16:creationId xmlns:a16="http://schemas.microsoft.com/office/drawing/2014/main" id="{73C7C35B-41DE-4390-AB82-B7EF9A2E8B8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의제 부제</a:t>
            </a:r>
          </a:p>
        </p:txBody>
      </p:sp>
      <p:sp>
        <p:nvSpPr>
          <p:cNvPr id="109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DCFFB321-B802-4CB0-B521-541A42626F2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 xmlns:a="http://schemas.openxmlformats.org/drawingml/2006/main">
            <a:pPr>
              <a:buNone/>
            </a:pPr>
            <a:r>
              <a:t>의제 주제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0" name="의제 제목">
            <a:extLst xmlns:a="http://schemas.openxmlformats.org/drawingml/2006/main">
              <a:ext uri="{FF2B5EF4-FFF2-40B4-BE49-F238E27FC236}">
                <a16:creationId xmlns:a16="http://schemas.microsoft.com/office/drawing/2014/main" id="{B8559C27-A442-48B2-9F9D-735B2205D99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의제 제목</a:t>
            </a:r>
          </a:p>
        </p:txBody>
      </p:sp>
      <p:sp>
        <p:nvSpPr>
          <p:cNvPr id="11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9ACC834-5690-4D58-BE8F-C4077C77E34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1">
  <p:cSld name="내역서">
    <p:bg>
      <p:bgPr>
        <a:blipFill xmlns:a="http://schemas.openxmlformats.org/drawingml/2006/main" rotWithShape="1">
          <a:blip xmlns:r="http://schemas.openxmlformats.org/officeDocument/2006/relationships" r:embed="Reb229e5585fe4be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F244B7E6-BD45-44B8-84B4-313E344B258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191000"/>
            <a:ext cx="21971000" cy="408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내역서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9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3760280C-19EE-4D81-9EB0-58BC3CF7D3A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1">
  <p:cSld name="중요한 사실">
    <p:bg>
      <p:bgPr>
        <a:blipFill xmlns:a="http://schemas.openxmlformats.org/drawingml/2006/main" rotWithShape="1">
          <a:blip xmlns:r="http://schemas.openxmlformats.org/officeDocument/2006/relationships" r:embed="R10fe21d1f5e94ae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B8E07897-8535-47B7-BF22-541DE86BEAC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1206500"/>
            <a:ext cx="21971000" cy="735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100%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27" name="사실 정보">
            <a:extLst xmlns:a="http://schemas.openxmlformats.org/drawingml/2006/main">
              <a:ext uri="{FF2B5EF4-FFF2-40B4-BE49-F238E27FC236}">
                <a16:creationId xmlns:a16="http://schemas.microsoft.com/office/drawing/2014/main" id="{42851CCD-2DB8-4FA9-9439-57F9794A0FC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8128000"/>
            <a:ext cx="21971000" cy="107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z="5500" spc="-55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사실 정보</a:t>
            </a:r>
          </a:p>
        </p:txBody>
      </p:sp>
      <p:sp>
        <p:nvSpPr>
          <p:cNvPr id="128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767E39E-73DA-469F-83BF-383E5F2A1CE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1">
  <p:cSld name="인용">
    <p:bg>
      <p:bgPr>
        <a:blipFill xmlns:a="http://schemas.openxmlformats.org/drawingml/2006/main" rotWithShape="1">
          <a:blip xmlns:r="http://schemas.openxmlformats.org/officeDocument/2006/relationships" r:embed="R645baab3a37644c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속성">
            <a:extLst xmlns:a="http://schemas.openxmlformats.org/drawingml/2006/main">
              <a:ext uri="{FF2B5EF4-FFF2-40B4-BE49-F238E27FC236}">
                <a16:creationId xmlns:a16="http://schemas.microsoft.com/office/drawing/2014/main" id="{06BA5057-6C67-4A26-BCB7-E68F333F6CA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5461000" y="9563100"/>
            <a:ext cx="137287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속성</a:t>
            </a:r>
          </a:p>
        </p:txBody>
      </p:sp>
      <p:sp>
        <p:nvSpPr>
          <p:cNvPr id="136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4867D4EF-616F-4BE8-B7F1-D5EB145F94B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5194300" y="4165600"/>
            <a:ext cx="13995400" cy="443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“멋진 인용구”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37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3B415608-6D4C-4B2F-9605-DCAD07CF48B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1">
  <p:cSld name="사진 - 3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분홍색과 보라색 하늘 아래 옥외 석재 건물의 복도">
            <a:extLst xmlns:a="http://schemas.openxmlformats.org/drawingml/2006/main">
              <a:ext uri="{FF2B5EF4-FFF2-40B4-BE49-F238E27FC236}">
                <a16:creationId xmlns:a16="http://schemas.microsoft.com/office/drawing/2014/main" id="{68072ACC-73C0-43C6-9750-311345904597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1257300" y="3213100"/>
            <a:ext cx="7289800" cy="728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곡선 지붕의 흑백 근접 촬영">
            <a:extLst xmlns:a="http://schemas.openxmlformats.org/drawingml/2006/main">
              <a:ext uri="{FF2B5EF4-FFF2-40B4-BE49-F238E27FC236}">
                <a16:creationId xmlns:a16="http://schemas.microsoft.com/office/drawing/2014/main" id="{59BED876-BF1A-4055-AB6D-F7B8FAEB9EA1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6577500" y="3632200"/>
            <a:ext cx="11228999" cy="645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6" name="낮은 각도에서 바라본 금속 나선형 계단">
            <a:extLst xmlns:a="http://schemas.openxmlformats.org/drawingml/2006/main">
              <a:ext uri="{FF2B5EF4-FFF2-40B4-BE49-F238E27FC236}">
                <a16:creationId xmlns:a16="http://schemas.microsoft.com/office/drawing/2014/main" id="{8D44020C-BC6F-4F17-B88B-BFC5425FF42C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14643100" y="3632200"/>
            <a:ext cx="9677400" cy="645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7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2ED8CB-C45A-4359-ADFA-FA2F242569B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1">
  <p:cSld name="사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그림자가 있는 초현대적 구조의 하얀 복도">
            <a:extLst xmlns:a="http://schemas.openxmlformats.org/drawingml/2006/main">
              <a:ext uri="{FF2B5EF4-FFF2-40B4-BE49-F238E27FC236}">
                <a16:creationId xmlns:a16="http://schemas.microsoft.com/office/drawing/2014/main" id="{EDA56898-9B40-4531-954B-7484A6D08254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38100" y="-520700"/>
            <a:ext cx="24447500" cy="14763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14A6EC8-6C6A-4231-8873-54FDA9FE04F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1">
  <p:cSld name="빈 페이지">
    <p:bg>
      <p:bgPr>
        <a:blipFill xmlns:a="http://schemas.openxmlformats.org/drawingml/2006/main" rotWithShape="1">
          <a:blip xmlns:r="http://schemas.openxmlformats.org/officeDocument/2006/relationships" r:embed="Rc0ce2fd153844f8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111E16B-D688-4C25-A48C-FAABE4185EB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9061b5b160c4bb8" /><Relationship Type="http://schemas.openxmlformats.org/officeDocument/2006/relationships/theme" Target="/ppt/slideMasters/theme/theme2.xml" Id="R9b2bbbfcd0954abe" /><Relationship Type="http://schemas.openxmlformats.org/officeDocument/2006/relationships/slideLayout" Target="/ppt/slideLayouts/slideLayout1.xml" Id="Rf57804ff42614cd9" /><Relationship Type="http://schemas.openxmlformats.org/officeDocument/2006/relationships/slideLayout" Target="/ppt/slideLayouts/slideLayout2.xml" Id="Rc4502e405c744e91" /><Relationship Type="http://schemas.openxmlformats.org/officeDocument/2006/relationships/slideLayout" Target="/ppt/slideLayouts/slideLayout3.xml" Id="Redd4019c28ac4115" /><Relationship Type="http://schemas.openxmlformats.org/officeDocument/2006/relationships/slideLayout" Target="/ppt/slideLayouts/slideLayout4.xml" Id="Rcf833843c819409e" /><Relationship Type="http://schemas.openxmlformats.org/officeDocument/2006/relationships/slideLayout" Target="/ppt/slideLayouts/slideLayout5.xml" Id="R5775ff5711254449" /><Relationship Type="http://schemas.openxmlformats.org/officeDocument/2006/relationships/slideLayout" Target="/ppt/slideLayouts/slideLayout6.xml" Id="R46fcec68e84e4031" /><Relationship Type="http://schemas.openxmlformats.org/officeDocument/2006/relationships/slideLayout" Target="/ppt/slideLayouts/slideLayout7.xml" Id="R68ff9665a11f409c" /><Relationship Type="http://schemas.openxmlformats.org/officeDocument/2006/relationships/slideLayout" Target="/ppt/slideLayouts/slideLayout8.xml" Id="R6f8b1f1229194ff2" /><Relationship Type="http://schemas.openxmlformats.org/officeDocument/2006/relationships/slideLayout" Target="/ppt/slideLayouts/slideLayout9.xml" Id="Rf8f827b308c04586" /><Relationship Type="http://schemas.openxmlformats.org/officeDocument/2006/relationships/slideLayout" Target="/ppt/slideLayouts/slideLayout10.xml" Id="Rfd067f355d49413c" /><Relationship Type="http://schemas.openxmlformats.org/officeDocument/2006/relationships/slideLayout" Target="/ppt/slideLayouts/slideLayout11.xml" Id="R47d77002795b4ddc" /><Relationship Type="http://schemas.openxmlformats.org/officeDocument/2006/relationships/slideLayout" Target="/ppt/slideLayouts/slideLayout12.xml" Id="R6f3b126973924396" /><Relationship Type="http://schemas.openxmlformats.org/officeDocument/2006/relationships/slideLayout" Target="/ppt/slideLayouts/slideLayout13.xml" Id="R8106a1f3cb024997" /><Relationship Type="http://schemas.openxmlformats.org/officeDocument/2006/relationships/slideLayout" Target="/ppt/slideLayouts/slideLayout14.xml" Id="Re8fc0377abb743cc" /><Relationship Type="http://schemas.openxmlformats.org/officeDocument/2006/relationships/slideLayout" Target="/ppt/slideLayouts/slideLayout15.xml" Id="R8374614c41374147" /><Relationship Type="http://schemas.openxmlformats.org/officeDocument/2006/relationships/slideLayout" Target="/ppt/slideLayouts/slideLayout16.xml" Id="R29be1f91c1154c4c" /><Relationship Type="http://schemas.openxmlformats.org/officeDocument/2006/relationships/slideLayout" Target="/ppt/slideLayouts/slideLayout17.xml" Id="R3245aced6604415d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061b5b160c4bb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FC9A2756-D609-4DE1-B667-0EB50E51953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21971000" cy="168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80C409DE-A81B-426F-8EDF-9CB4E4775A7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21971000" cy="82560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0F36BA-356D-4AA2-8204-9C96C14582B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23538179" y="12443459"/>
            <a:ext cx="408941" cy="4445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r" defTabSz="584200">
              <a:spcBef>
                <a:spcPts val="0"/>
              </a:spcBef>
              <a:buNone/>
              <a:defRPr sz="2000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7804ff42614cd9"/>
    <p:sldLayoutId xmlns:r="http://schemas.openxmlformats.org/officeDocument/2006/relationships" id="2147483650" r:id="Rc4502e405c744e91"/>
    <p:sldLayoutId xmlns:r="http://schemas.openxmlformats.org/officeDocument/2006/relationships" id="2147483651" r:id="Redd4019c28ac4115"/>
    <p:sldLayoutId xmlns:r="http://schemas.openxmlformats.org/officeDocument/2006/relationships" id="2147483652" r:id="Rcf833843c819409e"/>
    <p:sldLayoutId xmlns:r="http://schemas.openxmlformats.org/officeDocument/2006/relationships" id="2147483653" r:id="R5775ff5711254449"/>
    <p:sldLayoutId xmlns:r="http://schemas.openxmlformats.org/officeDocument/2006/relationships" id="2147483654" r:id="R46fcec68e84e4031"/>
    <p:sldLayoutId xmlns:r="http://schemas.openxmlformats.org/officeDocument/2006/relationships" id="2147483655" r:id="R68ff9665a11f409c"/>
    <p:sldLayoutId xmlns:r="http://schemas.openxmlformats.org/officeDocument/2006/relationships" id="2147483656" r:id="R6f8b1f1229194ff2"/>
    <p:sldLayoutId xmlns:r="http://schemas.openxmlformats.org/officeDocument/2006/relationships" id="2147483657" r:id="Rf8f827b308c04586"/>
    <p:sldLayoutId xmlns:r="http://schemas.openxmlformats.org/officeDocument/2006/relationships" id="2147483658" r:id="Rfd067f355d49413c"/>
    <p:sldLayoutId xmlns:r="http://schemas.openxmlformats.org/officeDocument/2006/relationships" id="2147483659" r:id="R47d77002795b4ddc"/>
    <p:sldLayoutId xmlns:r="http://schemas.openxmlformats.org/officeDocument/2006/relationships" id="2147483660" r:id="R6f3b126973924396"/>
    <p:sldLayoutId xmlns:r="http://schemas.openxmlformats.org/officeDocument/2006/relationships" id="2147483661" r:id="R8106a1f3cb024997"/>
    <p:sldLayoutId xmlns:r="http://schemas.openxmlformats.org/officeDocument/2006/relationships" id="2147483662" r:id="Re8fc0377abb743cc"/>
    <p:sldLayoutId xmlns:r="http://schemas.openxmlformats.org/officeDocument/2006/relationships" id="2147483663" r:id="R8374614c41374147"/>
    <p:sldLayoutId xmlns:r="http://schemas.openxmlformats.org/officeDocument/2006/relationships" id="2147483664" r:id="R29be1f91c1154c4c"/>
    <p:sldLayoutId xmlns:r="http://schemas.openxmlformats.org/officeDocument/2006/relationships" id="2147483665" r:id="R3245aced6604415d"/>
  </p:sldLayoutIdLst>
  <p:txStyles>
    <p:titleStyle>
      <a:lvl1pPr xmlns:a="http://schemas.openxmlformats.org/drawingml/2006/main" marL="0" marR="0" indent="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4572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1pPr>
      <a:lvl2pPr xmlns:a="http://schemas.openxmlformats.org/drawingml/2006/main" marL="9144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2pPr>
      <a:lvl3pPr xmlns:a="http://schemas.openxmlformats.org/drawingml/2006/main" marL="13716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3pPr>
      <a:lvl4pPr xmlns:a="http://schemas.openxmlformats.org/drawingml/2006/main" marL="18288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4pPr>
      <a:lvl5pPr xmlns:a="http://schemas.openxmlformats.org/drawingml/2006/main" marL="22860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5pPr>
      <a:lvl6pPr xmlns:a="http://schemas.openxmlformats.org/drawingml/2006/main" marL="27432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6pPr>
      <a:lvl7pPr xmlns:a="http://schemas.openxmlformats.org/drawingml/2006/main" marL="32004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7pPr>
      <a:lvl8pPr xmlns:a="http://schemas.openxmlformats.org/drawingml/2006/main" marL="36576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8pPr>
      <a:lvl9pPr xmlns:a="http://schemas.openxmlformats.org/drawingml/2006/main" marL="41148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9pPr>
    </p:bodyStyle>
    <p:otherStyle>
      <a:lvl1pPr xmlns:a="http://schemas.openxmlformats.org/drawingml/2006/main" marL="0" marR="0" indent="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1ebeb81fb420f" /><Relationship Type="http://schemas.openxmlformats.org/officeDocument/2006/relationships/notesSlide" Target="/ppt/notesSlides/notesSlide1.xml" Id="R3f0660d285904c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55bdab0b28b48bf" /><Relationship Type="http://schemas.openxmlformats.org/officeDocument/2006/relationships/notesSlide" Target="/ppt/notesSlides/notesSlide2.xml" Id="Rad3dedd086a241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759905fa3284c90" /><Relationship Type="http://schemas.openxmlformats.org/officeDocument/2006/relationships/notesSlide" Target="/ppt/notesSlides/notesSlide3.xml" Id="Red1ed2bcde3d48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2607fe4771b4cd3" /><Relationship Type="http://schemas.openxmlformats.org/officeDocument/2006/relationships/image" Target="/ppt/media/image.jpeg" Id="R1139cb35b9124e1c" /><Relationship Type="http://schemas.openxmlformats.org/officeDocument/2006/relationships/notesSlide" Target="/ppt/notesSlides/notesSlide4.xml" Id="R4f8703ef1b3f40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11bf050a94218" /><Relationship Type="http://schemas.openxmlformats.org/officeDocument/2006/relationships/notesSlide" Target="/ppt/notesSlides/notesSlide5.xml" Id="R52377bb29af143dd" 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직사각형">
            <a:extLst xmlns:a="http://schemas.openxmlformats.org/drawingml/2006/main">
              <a:ext uri="{FF2B5EF4-FFF2-40B4-BE49-F238E27FC236}">
                <a16:creationId xmlns:a16="http://schemas.microsoft.com/office/drawing/2014/main" id="{85DBEB84-BCC6-45A6-8486-FB21C4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140" y="5207954"/>
            <a:ext cx="2264960" cy="12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>
            <a:extLst xmlns:a="http://schemas.openxmlformats.org/drawingml/2006/main">
              <a:ext uri="{FF2B5EF4-FFF2-40B4-BE49-F238E27FC236}">
                <a16:creationId xmlns:a16="http://schemas.microsoft.com/office/drawing/2014/main" id="{26BAD8EB-3D3A-4799-B989-1C61E13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380" y="5026014"/>
            <a:ext cx="6711240" cy="16338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00" b="1">
                <a:solidFill>
                  <a:srgbClr val="D12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>
                <a:solidFill>
                  <a:srgbClr val="D124A6"/>
                </a:solidFill>
                <a:latin typeface="Apple SD Gothic Neo"/>
                <a:ea typeface="Apple SD Gothic Neo"/>
                <a:cs typeface="Apple SD Gothic Neo"/>
              </a:rPr>
              <a:t>게임은 무엇인가</a:t>
            </a:r>
          </a:p>
        </p:txBody>
      </p:sp>
      <p:sp>
        <p:nvSpPr>
          <p:cNvPr id="173" name="최용근이 만든 빌드 파일 발표 및 시연">
            <a:extLst xmlns:a="http://schemas.openxmlformats.org/drawingml/2006/main">
              <a:ext uri="{FF2B5EF4-FFF2-40B4-BE49-F238E27FC236}">
                <a16:creationId xmlns:a16="http://schemas.microsoft.com/office/drawing/2014/main" id="{3CF461D0-0D79-40C2-ABBF-66120FD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84" y="6621721"/>
            <a:ext cx="13131032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규칙 안에서 선택하고, 결과를 경험하는 매체</a:t>
            </a:r>
          </a:p>
        </p:txBody>
      </p:sp>
    </p:spTree>
    <p:extLst>
      <p:ext uri="{BB962C8B-B14F-4D97-AF65-F5344CB8AC3E}">
        <p14:creationId xmlns:p14="http://schemas.microsoft.com/office/powerpoint/2010/main" val="345805661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LUNA : 사이버펑크 바텐더">
            <a:extLst xmlns:a="http://schemas.openxmlformats.org/drawingml/2006/main">
              <a:ext uri="{FF2B5EF4-FFF2-40B4-BE49-F238E27FC236}">
                <a16:creationId xmlns:a16="http://schemas.microsoft.com/office/drawing/2014/main" id="{762EF172-29F7-4001-B450-873E4A5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147" y="2573768"/>
            <a:ext cx="9739706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GAME : 참여의 매체</a:t>
            </a:r>
          </a:p>
        </p:txBody>
      </p:sp>
      <p:sp>
        <p:nvSpPr>
          <p:cNvPr id="193" name="게임 개요">
            <a:extLst xmlns:a="http://schemas.openxmlformats.org/drawingml/2006/main">
              <a:ext uri="{FF2B5EF4-FFF2-40B4-BE49-F238E27FC236}">
                <a16:creationId xmlns:a16="http://schemas.microsoft.com/office/drawing/2014/main" id="{6C3AAD80-5F9D-4BEE-9F21-F9C51CA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707" y="1099690"/>
            <a:ext cx="3674586" cy="131129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C72D9E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194" name="바텐더 시뮬레이션 어드벤쳐…">
            <a:extLst xmlns:a="http://schemas.openxmlformats.org/drawingml/2006/main">
              <a:ext uri="{FF2B5EF4-FFF2-40B4-BE49-F238E27FC236}">
                <a16:creationId xmlns:a16="http://schemas.microsoft.com/office/drawing/2014/main" id="{C7FE8BEE-3A97-4DD5-958A-B4FAF28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41" y="6234773"/>
            <a:ext cx="4975203" cy="38284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주어진 상황과 목표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선택하고 행동하는 사람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판단 · 실행 · 반복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규칙과 즉각적인 피드백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나만의 경험과 이야기</a:t>
            </a:r>
          </a:p>
        </p:txBody>
      </p:sp>
      <p:sp>
        <p:nvSpPr>
          <p:cNvPr id="195" name="장르…">
            <a:extLst xmlns:a="http://schemas.openxmlformats.org/drawingml/2006/main">
              <a:ext uri="{FF2B5EF4-FFF2-40B4-BE49-F238E27FC236}">
                <a16:creationId xmlns:a16="http://schemas.microsoft.com/office/drawing/2014/main" id="{E5FC6498-B388-479C-80A6-780E730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107" y="6234773"/>
            <a:ext cx="2544752" cy="390337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출발점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플레이어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행동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작동 방식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남는 것</a:t>
            </a:r>
          </a:p>
        </p:txBody>
      </p:sp>
      <p:sp>
        <p:nvSpPr>
          <p:cNvPr id="196" name="선">
            <a:extLst xmlns:a="http://schemas.openxmlformats.org/drawingml/2006/main">
              <a:ext uri="{FF2B5EF4-FFF2-40B4-BE49-F238E27FC236}">
                <a16:creationId xmlns:a16="http://schemas.microsoft.com/office/drawing/2014/main" id="{DE758E31-FF2E-4D56-B2AE-2D0E153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1999" y="5732035"/>
            <a:ext cx="1" cy="4345576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4836938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바텐더의 경험?">
            <a:extLst xmlns:a="http://schemas.openxmlformats.org/drawingml/2006/main">
              <a:ext uri="{FF2B5EF4-FFF2-40B4-BE49-F238E27FC236}">
                <a16:creationId xmlns:a16="http://schemas.microsoft.com/office/drawing/2014/main" id="{8206F495-124A-4501-A30E-41D784C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2" y="824258"/>
            <a:ext cx="5904236" cy="131129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게임의 세 요소</a:t>
            </a:r>
          </a:p>
        </p:txBody>
      </p:sp>
      <p:sp>
        <p:nvSpPr>
          <p:cNvPr id="206" name="원">
            <a:extLst xmlns:a="http://schemas.openxmlformats.org/drawingml/2006/main">
              <a:ext uri="{FF2B5EF4-FFF2-40B4-BE49-F238E27FC236}">
                <a16:creationId xmlns:a16="http://schemas.microsoft.com/office/drawing/2014/main" id="{BDFF5FCA-2258-4AB7-A9CF-0A8840D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666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7" name="원">
            <a:extLst xmlns:a="http://schemas.openxmlformats.org/drawingml/2006/main">
              <a:ext uri="{FF2B5EF4-FFF2-40B4-BE49-F238E27FC236}">
                <a16:creationId xmlns:a16="http://schemas.microsoft.com/office/drawing/2014/main" id="{1B38E613-D302-4AE9-964A-569496A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7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8" name="매장 관리">
            <a:extLst xmlns:a="http://schemas.openxmlformats.org/drawingml/2006/main">
              <a:ext uri="{FF2B5EF4-FFF2-40B4-BE49-F238E27FC236}">
                <a16:creationId xmlns:a16="http://schemas.microsoft.com/office/drawing/2014/main" id="{B021A0CD-30C3-4563-882F-C8A4365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7068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피드백</a:t>
            </a:r>
          </a:p>
        </p:txBody>
      </p:sp>
      <p:sp>
        <p:nvSpPr>
          <p:cNvPr id="209" name="본 프로젝트는 플레이어가 경험했으면 하는…">
            <a:extLst xmlns:a="http://schemas.openxmlformats.org/drawingml/2006/main">
              <a:ext uri="{FF2B5EF4-FFF2-40B4-BE49-F238E27FC236}">
                <a16:creationId xmlns:a16="http://schemas.microsoft.com/office/drawing/2014/main" id="{56091F62-5565-4DC5-ABCB-65CBDDB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328" y="2224397"/>
            <a:ext cx="6999344" cy="1196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0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게임은 규칙만으로도, 이야기만으로도 완성되지 않는다.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0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 요소가 서로 반응할 때 플레이가 된다.</a:t>
            </a:r>
          </a:p>
        </p:txBody>
      </p:sp>
      <p:sp>
        <p:nvSpPr>
          <p:cNvPr id="210" name="선">
            <a:extLst xmlns:a="http://schemas.openxmlformats.org/drawingml/2006/main">
              <a:ext uri="{FF2B5EF4-FFF2-40B4-BE49-F238E27FC236}">
                <a16:creationId xmlns:a16="http://schemas.microsoft.com/office/drawing/2014/main" id="{E684CE83-CB0E-41DA-A450-FFFF9B6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157" y="8275966"/>
            <a:ext cx="9335686" cy="1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선">
            <a:extLst xmlns:a="http://schemas.openxmlformats.org/drawingml/2006/main">
              <a:ext uri="{FF2B5EF4-FFF2-40B4-BE49-F238E27FC236}">
                <a16:creationId xmlns:a16="http://schemas.microsoft.com/office/drawing/2014/main" id="{2365ABD5-29EF-473C-9AFF-372BBF22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350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선">
            <a:extLst xmlns:a="http://schemas.openxmlformats.org/drawingml/2006/main">
              <a:ext uri="{FF2B5EF4-FFF2-40B4-BE49-F238E27FC236}">
                <a16:creationId xmlns:a16="http://schemas.microsoft.com/office/drawing/2014/main" id="{76C26B18-CAD6-44B8-865B-3BA1D42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93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부분형 파이">
            <a:extLst xmlns:a="http://schemas.openxmlformats.org/drawingml/2006/main">
              <a:ext uri="{FF2B5EF4-FFF2-40B4-BE49-F238E27FC236}">
                <a16:creationId xmlns:a16="http://schemas.microsoft.com/office/drawing/2014/main" id="{AE390261-C9A0-4CC5-A858-ABE8D1A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45" y="4117545"/>
            <a:ext cx="3127012" cy="3125995"/>
          </a:xfrm>
          <a:custGeom xmlns:a="http://schemas.openxmlformats.org/drawingml/2006/main">
            <a:rect l="0" t="0" r="r" b="b"/>
            <a:pathLst>
              <a:path w="21600" h="21597">
                <a:moveTo>
                  <a:pt x="10409" y="0"/>
                </a:moveTo>
                <a:cubicBezTo>
                  <a:pt x="4626" y="206"/>
                  <a:pt x="0" y="4959"/>
                  <a:pt x="0" y="10794"/>
                </a:cubicBezTo>
                <a:cubicBezTo>
                  <a:pt x="0" y="12623"/>
                  <a:pt x="455" y="14345"/>
                  <a:pt x="1256" y="15855"/>
                </a:cubicBezTo>
                <a:cubicBezTo>
                  <a:pt x="1298" y="15933"/>
                  <a:pt x="1396" y="15960"/>
                  <a:pt x="1473" y="15916"/>
                </a:cubicBezTo>
                <a:lnTo>
                  <a:pt x="10431" y="10744"/>
                </a:lnTo>
                <a:cubicBezTo>
                  <a:pt x="10518" y="10694"/>
                  <a:pt x="10570" y="10600"/>
                  <a:pt x="10570" y="10499"/>
                </a:cubicBezTo>
                <a:lnTo>
                  <a:pt x="10570" y="158"/>
                </a:lnTo>
                <a:cubicBezTo>
                  <a:pt x="10570" y="69"/>
                  <a:pt x="10498" y="-2"/>
                  <a:pt x="10409" y="0"/>
                </a:cubicBezTo>
                <a:close/>
                <a:moveTo>
                  <a:pt x="11191" y="0"/>
                </a:moveTo>
                <a:cubicBezTo>
                  <a:pt x="11102" y="-3"/>
                  <a:pt x="11028" y="69"/>
                  <a:pt x="11028" y="158"/>
                </a:cubicBezTo>
                <a:lnTo>
                  <a:pt x="11028" y="10499"/>
                </a:lnTo>
                <a:cubicBezTo>
                  <a:pt x="11028" y="10600"/>
                  <a:pt x="11082" y="10694"/>
                  <a:pt x="11169" y="10744"/>
                </a:cubicBezTo>
                <a:lnTo>
                  <a:pt x="20127" y="15916"/>
                </a:lnTo>
                <a:cubicBezTo>
                  <a:pt x="20204" y="15960"/>
                  <a:pt x="20302" y="15933"/>
                  <a:pt x="20344" y="15855"/>
                </a:cubicBezTo>
                <a:cubicBezTo>
                  <a:pt x="21145" y="14345"/>
                  <a:pt x="21600" y="12623"/>
                  <a:pt x="21600" y="10794"/>
                </a:cubicBezTo>
                <a:cubicBezTo>
                  <a:pt x="21600" y="4959"/>
                  <a:pt x="16974" y="206"/>
                  <a:pt x="11191" y="0"/>
                </a:cubicBezTo>
                <a:close/>
                <a:moveTo>
                  <a:pt x="10799" y="11102"/>
                </a:moveTo>
                <a:cubicBezTo>
                  <a:pt x="10750" y="11102"/>
                  <a:pt x="10703" y="11116"/>
                  <a:pt x="10660" y="11141"/>
                </a:cubicBezTo>
                <a:lnTo>
                  <a:pt x="1702" y="16313"/>
                </a:lnTo>
                <a:cubicBezTo>
                  <a:pt x="1625" y="16357"/>
                  <a:pt x="1600" y="16456"/>
                  <a:pt x="1648" y="16531"/>
                </a:cubicBezTo>
                <a:cubicBezTo>
                  <a:pt x="3558" y="19574"/>
                  <a:pt x="6942" y="21597"/>
                  <a:pt x="10799" y="21597"/>
                </a:cubicBezTo>
                <a:cubicBezTo>
                  <a:pt x="14656" y="21597"/>
                  <a:pt x="18042" y="19574"/>
                  <a:pt x="19952" y="16531"/>
                </a:cubicBezTo>
                <a:cubicBezTo>
                  <a:pt x="19999" y="16456"/>
                  <a:pt x="19975" y="16357"/>
                  <a:pt x="19898" y="16313"/>
                </a:cubicBezTo>
                <a:lnTo>
                  <a:pt x="10940" y="11141"/>
                </a:lnTo>
                <a:cubicBezTo>
                  <a:pt x="10897" y="11116"/>
                  <a:pt x="10848" y="11102"/>
                  <a:pt x="10799" y="11102"/>
                </a:cubicBezTo>
                <a:close/>
              </a:path>
            </a:pathLst>
          </a:custGeom>
          <a:solidFill xmlns:a="http://schemas.openxmlformats.org/drawingml/2006/main">
            <a:srgbClr val="B03D41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4" name="바텐더">
            <a:extLst xmlns:a="http://schemas.openxmlformats.org/drawingml/2006/main">
              <a:ext uri="{FF2B5EF4-FFF2-40B4-BE49-F238E27FC236}">
                <a16:creationId xmlns:a16="http://schemas.microsoft.com/office/drawing/2014/main" id="{F6C1FCE5-7CF8-4D6F-B8A8-2A9942B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7" y="5316054"/>
            <a:ext cx="1762126" cy="8636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게임</a:t>
            </a:r>
          </a:p>
        </p:txBody>
      </p:sp>
      <p:sp>
        <p:nvSpPr>
          <p:cNvPr id="215" name="원">
            <a:extLst xmlns:a="http://schemas.openxmlformats.org/drawingml/2006/main">
              <a:ext uri="{FF2B5EF4-FFF2-40B4-BE49-F238E27FC236}">
                <a16:creationId xmlns:a16="http://schemas.microsoft.com/office/drawing/2014/main" id="{5833D3BB-506C-4C4F-B224-AE9FE39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4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6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1D6B1F43-1BAC-473F-9B86-AE7B018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8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217" name="손님과 소통">
            <a:extLst xmlns:a="http://schemas.openxmlformats.org/drawingml/2006/main">
              <a:ext uri="{FF2B5EF4-FFF2-40B4-BE49-F238E27FC236}">
                <a16:creationId xmlns:a16="http://schemas.microsoft.com/office/drawing/2014/main" id="{818CCD06-CFA3-4D7C-8069-C03DFED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1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규칙</a:t>
            </a:r>
          </a:p>
        </p:txBody>
      </p:sp>
      <p:sp>
        <p:nvSpPr>
          <p:cNvPr id="218" name="선">
            <a:extLst xmlns:a="http://schemas.openxmlformats.org/drawingml/2006/main">
              <a:ext uri="{FF2B5EF4-FFF2-40B4-BE49-F238E27FC236}">
                <a16:creationId xmlns:a16="http://schemas.microsoft.com/office/drawing/2014/main" id="{485D364B-ED9E-4324-8C33-A84A85BF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999" y="7205675"/>
            <a:ext cx="1" cy="27093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94687249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34" y="593115"/>
            <a:ext cx="2962529" cy="1069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경험 설계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640" y="941688"/>
            <a:ext cx="2891959" cy="74677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플레이의 의미</a:t>
            </a:r>
          </a:p>
        </p:txBody>
      </p:sp>
      <p:pic>
        <p:nvPicPr>
          <p:cNvPr id="272" name="unnamed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9cb35b9124e1c"/>
          <a:srcRect xmlns:a="http://schemas.openxmlformats.org/drawingml/2006/main" l="15268" t="8759" r="48077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470" y="4084182"/>
            <a:ext cx="3141128" cy="3948283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809" y="4467914"/>
            <a:ext cx="3851009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무엇을 할 수 있을까?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455" y="5268434"/>
            <a:ext cx="5587046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어떤 선택이 나의 판단이 될까?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237" y="6479750"/>
            <a:ext cx="2213187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결과가 달라졌다.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98" y="2381697"/>
            <a:ext cx="3017404" cy="90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선택과 결과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67" y="8867442"/>
            <a:ext cx="11607066" cy="340109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플레이어는 규칙 안에서 상황을 읽고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자신의 판단으로 행동한다.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/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게임은 그 행동에 결과를 돌려주며,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선택이 세계를 바꾼다는 감각을 만든다.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직사각형">
            <a:extLst xmlns:a="http://schemas.openxmlformats.org/drawingml/2006/main">
              <a:ext uri="{FF2B5EF4-FFF2-40B4-BE49-F238E27FC236}">
                <a16:creationId xmlns:a16="http://schemas.microsoft.com/office/drawing/2014/main" id="{85DBEB84-BCC6-45A6-8486-FB21C4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140" y="5207954"/>
            <a:ext cx="2264960" cy="12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>
            <a:extLst xmlns:a="http://schemas.openxmlformats.org/drawingml/2006/main">
              <a:ext uri="{FF2B5EF4-FFF2-40B4-BE49-F238E27FC236}">
                <a16:creationId xmlns:a16="http://schemas.microsoft.com/office/drawing/2014/main" id="{26BAD8EB-3D3A-4799-B989-1C61E13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380" y="5026014"/>
            <a:ext cx="6711240" cy="16338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00" b="1">
                <a:solidFill>
                  <a:srgbClr val="D12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>
                <a:solidFill>
                  <a:srgbClr val="D124A6"/>
                </a:solidFill>
                <a:latin typeface="Apple SD Gothic Neo"/>
                <a:ea typeface="Apple SD Gothic Neo"/>
                <a:cs typeface="Apple SD Gothic Neo"/>
              </a:rPr>
              <a:t>게임은 선택의 경험이다</a:t>
            </a:r>
          </a:p>
        </p:txBody>
      </p:sp>
      <p:sp>
        <p:nvSpPr>
          <p:cNvPr id="173" name="최용근이 만든 빌드 파일 발표 및 시연">
            <a:extLst xmlns:a="http://schemas.openxmlformats.org/drawingml/2006/main">
              <a:ext uri="{FF2B5EF4-FFF2-40B4-BE49-F238E27FC236}">
                <a16:creationId xmlns:a16="http://schemas.microsoft.com/office/drawing/2014/main" id="{3CF461D0-0D79-40C2-ABBF-66120FD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84" y="6621721"/>
            <a:ext cx="13131032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>
                <a:latin typeface="Apple SD Gothic Neo"/>
                <a:ea typeface="Apple SD Gothic Neo"/>
                <a:cs typeface="Apple SD Gothic Neo"/>
              </a:rPr>
              <a:t>플레이어가 행동한 만큼, 세계는 자신의 이야기가 된다.</a:t>
            </a:r>
          </a:p>
        </p:txBody>
      </p:sp>
    </p:spTree>
    <p:extLst>
      <p:ext uri="{BB962C8B-B14F-4D97-AF65-F5344CB8AC3E}">
        <p14:creationId xmlns:p14="http://schemas.microsoft.com/office/powerpoint/2010/main" val="345805661"/>
      </p:ext>
    </p:extLst>
  </p:cSld>
</p:sld>
</file>

<file path=ppt/theme/theme1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2026-08-31T00:57:09.6180000Z</dcterms:created>
  <dcterms:modified xsi:type="dcterms:W3CDTF">2026-08-31T00:57:09.6180000Z</dcterms:modified>
</coreProperties>
</file>