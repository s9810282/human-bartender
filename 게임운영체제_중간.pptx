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  <p:sldId id="268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B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81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D04A"/>
                </a:solidFill>
              </a:rPr>
              <a:t>게임운영체제  |  중간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HumanBartender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8BF"/>
                </a:solidFill>
              </a:rPr>
              <a:t>게임 프로젝트와 운영체제 개념의 연결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80360"/>
            <a:ext cx="4754880" cy="4572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78240" y="1188720"/>
            <a:ext cx="1554480" cy="1325880"/>
          </a:xfrm>
          <a:prstGeom prst="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78240" y="1188720"/>
            <a:ext cx="1554480" cy="4572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0" y="1298448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1A6FC4"/>
                </a:solidFill>
              </a:rPr>
              <a:t>2주차
</a:t>
            </a:r>
            <a:r>
              <a:rPr sz="1000" b="1" i="0" dirty="0" err="1">
                <a:solidFill>
                  <a:srgbClr val="1A6FC4"/>
                </a:solidFill>
              </a:rPr>
              <a:t>시스템</a:t>
            </a:r>
            <a:r>
              <a:rPr sz="1000" b="1" i="0" dirty="0">
                <a:solidFill>
                  <a:srgbClr val="1A6FC4"/>
                </a:solidFill>
              </a:rPr>
              <a:t> 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0" y="1188720"/>
            <a:ext cx="1554480" cy="1325880"/>
          </a:xfrm>
          <a:prstGeom prst="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515600" y="1188720"/>
            <a:ext cx="1554480" cy="45720"/>
          </a:xfrm>
          <a:prstGeom prst="rect">
            <a:avLst/>
          </a:prstGeom>
          <a:solidFill>
            <a:srgbClr val="3DC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0" y="1298448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DC46E"/>
                </a:solidFill>
              </a:rPr>
              <a:t>3주차
비동기 스레드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2697480"/>
            <a:ext cx="1554480" cy="1325880"/>
          </a:xfrm>
          <a:prstGeom prst="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78240" y="2697480"/>
            <a:ext cx="155448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78240" y="2807208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B6"/>
                </a:solidFill>
              </a:rPr>
              <a:t>4주차
세마포어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0" y="2697480"/>
            <a:ext cx="1554480" cy="1325880"/>
          </a:xfrm>
          <a:prstGeom prst="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515600" y="2697480"/>
            <a:ext cx="1554480" cy="4572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0" y="2807208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5230"/>
                </a:solidFill>
              </a:rPr>
              <a:t>5주차
EDF 스케줄링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4206240"/>
            <a:ext cx="1554480" cy="1325880"/>
          </a:xfrm>
          <a:prstGeom prst="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78240" y="4206240"/>
            <a:ext cx="1554480" cy="4572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0" y="4315968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6A085"/>
                </a:solidFill>
              </a:rPr>
              <a:t>6주차
수요 페이징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0" y="4206240"/>
            <a:ext cx="1554480" cy="1325880"/>
          </a:xfrm>
          <a:prstGeom prst="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515600" y="4206240"/>
            <a:ext cx="1554480" cy="45720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15600" y="4315968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D04A"/>
                </a:solidFill>
              </a:rPr>
              <a:t>7주차
메모리 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9692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프로젝트 소개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31520"/>
            <a:ext cx="11548872" cy="36576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484632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FFD04A"/>
                </a:solidFill>
              </a:rPr>
              <a:t>게임</a:t>
            </a:r>
            <a:r>
              <a:rPr sz="1400" b="1" i="0" dirty="0">
                <a:solidFill>
                  <a:srgbClr val="FFD04A"/>
                </a:solidFill>
              </a:rPr>
              <a:t> </a:t>
            </a:r>
            <a:r>
              <a:rPr sz="1400" b="1" i="0" dirty="0" err="1">
                <a:solidFill>
                  <a:srgbClr val="FFD04A"/>
                </a:solidFill>
              </a:rPr>
              <a:t>개요</a:t>
            </a:r>
            <a:endParaRPr sz="1400" b="1" i="0" dirty="0">
              <a:solidFill>
                <a:srgbClr val="FFD04A"/>
              </a:solidFill>
            </a:endParaRPr>
          </a:p>
          <a:p>
            <a:pPr algn="l"/>
            <a:endParaRPr sz="1400" b="1" i="0" dirty="0">
              <a:solidFill>
                <a:srgbClr val="FFD04A"/>
              </a:solidFill>
            </a:endParaRPr>
          </a:p>
          <a:p>
            <a:pPr algn="l"/>
            <a:r>
              <a:rPr sz="1200" b="0" i="0" dirty="0" err="1">
                <a:solidFill>
                  <a:srgbClr val="FFFFFF"/>
                </a:solidFill>
              </a:rPr>
              <a:t>손님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주문에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맞는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칵테일을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제조하는</a:t>
            </a:r>
            <a:r>
              <a:rPr sz="1200" b="0" i="0" dirty="0">
                <a:solidFill>
                  <a:srgbClr val="FFFFFF"/>
                </a:solidFill>
              </a:rPr>
              <a:t> 2D </a:t>
            </a:r>
            <a:r>
              <a:rPr sz="1200" b="0" i="0" dirty="0" err="1">
                <a:solidFill>
                  <a:srgbClr val="FFFFFF"/>
                </a:solidFill>
              </a:rPr>
              <a:t>시뮬레이션</a:t>
            </a:r>
            <a:endParaRPr sz="1200" b="0" i="0" dirty="0">
              <a:solidFill>
                <a:srgbClr val="FFFFFF"/>
              </a:solidFill>
            </a:endParaRPr>
          </a:p>
          <a:p>
            <a:pPr algn="l"/>
            <a:endParaRPr sz="1200" b="0" i="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94960" y="1051560"/>
            <a:ext cx="3017520" cy="1965960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94960" y="1051560"/>
            <a:ext cx="3017520" cy="4572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32120" y="1161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FC4"/>
                </a:solidFill>
              </a:rPr>
              <a:t>대화 시스템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051560"/>
            <a:ext cx="3017520" cy="1965960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0" y="1051560"/>
            <a:ext cx="3017520" cy="4572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11612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E85230"/>
                </a:solidFill>
              </a:rPr>
              <a:t>미니게임</a:t>
            </a:r>
            <a:endParaRPr sz="1200" b="1" i="0" dirty="0">
              <a:solidFill>
                <a:srgbClr val="E8523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394960" y="3200400"/>
            <a:ext cx="3017520" cy="1965960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94960" y="3200400"/>
            <a:ext cx="3017520" cy="45720"/>
          </a:xfrm>
          <a:prstGeom prst="rect">
            <a:avLst/>
          </a:prstGeom>
          <a:solidFill>
            <a:srgbClr val="3DC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32120" y="3310128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i="0" dirty="0" smtClean="0">
                <a:solidFill>
                  <a:srgbClr val="3DC46E"/>
                </a:solidFill>
              </a:rPr>
              <a:t>다양한 연출</a:t>
            </a:r>
            <a:endParaRPr sz="1200" b="1" i="0" dirty="0">
              <a:solidFill>
                <a:srgbClr val="3DC46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686800" y="3200400"/>
            <a:ext cx="3017520" cy="1965960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686800" y="3200400"/>
            <a:ext cx="3017520" cy="45720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23960" y="3310128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1" i="0" dirty="0" smtClean="0">
                <a:solidFill>
                  <a:srgbClr val="FFD04A"/>
                </a:solidFill>
              </a:rPr>
              <a:t>선택에 따른 외부 이벤트</a:t>
            </a:r>
            <a:endParaRPr sz="1200" b="1" i="0" dirty="0">
              <a:solidFill>
                <a:srgbClr val="FFD04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9692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2~7주차 OS 개념 — 프로젝트 구현 매핑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31520"/>
            <a:ext cx="11548872" cy="36576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786384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8BF"/>
                </a:solidFill>
              </a:rPr>
              <a:t>수업에서 배운 개념이 실제 코드에 구현된 위치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1051560" cy="347472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005840"/>
            <a:ext cx="1920240" cy="347472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37560" y="1005840"/>
            <a:ext cx="3017520" cy="347472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005840"/>
            <a:ext cx="5486400" cy="347472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051560"/>
            <a:ext cx="9052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주차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051560"/>
            <a:ext cx="17739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OS 개념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051560"/>
            <a:ext cx="28712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구현 파일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051560"/>
            <a:ext cx="5340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핵심 내용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408176"/>
            <a:ext cx="11640312" cy="768096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1408176"/>
            <a:ext cx="54864" cy="768096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159105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6FC4"/>
                </a:solidFill>
              </a:rPr>
              <a:t>2주차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159105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시스템 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1591056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FF72"/>
                </a:solidFill>
              </a:rPr>
              <a:t>JsonManager.cs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591056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8BF"/>
                </a:solidFill>
              </a:rPr>
              <a:t>File.ReadAllText() — OS 파일 I/O 시스템 콜 직접 호출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700016"/>
            <a:ext cx="11640312" cy="768096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74320" y="4700016"/>
            <a:ext cx="54864" cy="768096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84048" y="488289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085"/>
                </a:solidFill>
              </a:rPr>
              <a:t>6주차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488289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수요 페이징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4882896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FF72"/>
                </a:solidFill>
              </a:rPr>
              <a:t>ResourceLoader.cs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882896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8BF"/>
                </a:solidFill>
              </a:rPr>
              <a:t>Addressables Load/Release — 필요 시 로드, 사용 후 해제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522976"/>
            <a:ext cx="11640312" cy="768096"/>
          </a:xfrm>
          <a:prstGeom prst="rect">
            <a:avLst/>
          </a:prstGeom>
          <a:solidFill>
            <a:srgbClr val="10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74320" y="5522976"/>
            <a:ext cx="54864" cy="768096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84048" y="5705856"/>
            <a:ext cx="960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04A"/>
                </a:solidFill>
              </a:rPr>
              <a:t>7주차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17320" y="5705856"/>
            <a:ext cx="1828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메모리 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705856"/>
            <a:ext cx="2926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FF72"/>
                </a:solidFill>
              </a:rPr>
              <a:t>ObjectPool.cs + PoolManager.cs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705856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A8BF"/>
                </a:solidFill>
              </a:rPr>
              <a:t>Queue 사전 할당 — 런타임 GC 없이 UI 오브젝트 재사용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155448"/>
            <a:ext cx="1737360" cy="420624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5544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46304"/>
            <a:ext cx="9692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시스템 콜(System Call) — JsonManager.cs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31520"/>
            <a:ext cx="11548872" cy="36576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8BF"/>
                </a:solidFill>
              </a:rPr>
              <a:t>User Mode 게임 코드가 OS 커널에 파일 읽기를 요청하는 지점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04A"/>
                </a:solidFill>
              </a:rPr>
              <a:t>왜 게임 개발자가 시스템 콜을 알아야 하는가?</a:t>
            </a:r>
          </a:p>
          <a:p>
            <a:pPr algn="l"/>
            <a:endParaRPr sz="1300" b="1" i="0">
              <a:solidFill>
                <a:srgbClr val="FFD04A"/>
              </a:solidFill>
            </a:endParaRPr>
          </a:p>
          <a:p>
            <a:pPr algn="l"/>
            <a:r>
              <a:rPr sz="1200" b="0" i="0">
                <a:solidFill>
                  <a:srgbClr val="FFFFFF"/>
                </a:solidFill>
              </a:rPr>
              <a:t>게임 코드(User Mode)는 파일을 직접 읽을 수 없다.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반드시 OS에 시스템 콜을 요청해야 한다.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이 과정에서 User Mode → Kernel Mode 전환이 발생한다.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880360"/>
            <a:ext cx="2560320" cy="82296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292608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게임 코드
(User Mode)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127248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04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2880360"/>
            <a:ext cx="2560320" cy="82296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292608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System Call
File.ReadAllText()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127248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04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2880360"/>
            <a:ext cx="2560320" cy="822960"/>
          </a:xfrm>
          <a:prstGeom prst="rect">
            <a:avLst/>
          </a:prstGeom>
          <a:solidFill>
            <a:srgbClr val="3DC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89320" y="292608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OS 커널
(Kernel Mode)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127248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04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2880360"/>
            <a:ext cx="2560320" cy="822960"/>
          </a:xfrm>
          <a:prstGeom prst="rect">
            <a:avLst/>
          </a:prstGeom>
          <a:solidFill>
            <a:srgbClr val="7F5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23960" y="292608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디스크
JSON 파일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79476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8BF"/>
                </a:solidFill>
              </a:rPr>
              <a:t>※ DataLoadManager.cs에서 게임 시작 시 7개 JSON 파일을 순차 로드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206240"/>
            <a:ext cx="11548872" cy="242316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4206240"/>
            <a:ext cx="54864" cy="242316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" y="4297679"/>
            <a:ext cx="11347704" cy="22585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E7687"/>
                </a:solidFill>
                <a:latin typeface="Consolas"/>
              </a:rPr>
              <a:t>// JsonManager.cs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public static T LoadGameData_StreamingAssets(string fileName)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{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string filePath = Path.Combine(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    Application.streamingAssetsPath, fileName);</a:t>
            </a:r>
          </a:p>
          <a:p>
            <a:endParaRPr sz="1050">
              <a:solidFill>
                <a:srgbClr val="FFFFFF"/>
              </a:solidFill>
              <a:latin typeface="Consolas"/>
            </a:endParaRP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    if (File.Exists(filePath))          // ← OS에 파일 존재 여부 질의 (시스템 콜)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{</a:t>
            </a: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        string json = File.ReadAllText(filePath); // ← OS 파일 읽기 시스템 콜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    return JsonConvert.DeserializeObject&lt;T&gt;(json);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155448"/>
            <a:ext cx="1737360" cy="420624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5544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46304"/>
            <a:ext cx="9692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600" b="1" dirty="0" smtClean="0">
                <a:solidFill>
                  <a:srgbClr val="FFFFFF"/>
                </a:solidFill>
              </a:rPr>
              <a:t>요구</a:t>
            </a:r>
            <a:r>
              <a:rPr sz="2600" b="1" i="0" dirty="0" smtClean="0">
                <a:solidFill>
                  <a:srgbClr val="FFFFFF"/>
                </a:solidFill>
              </a:rPr>
              <a:t> </a:t>
            </a:r>
            <a:r>
              <a:rPr sz="2600" b="1" i="0" dirty="0" err="1">
                <a:solidFill>
                  <a:srgbClr val="FFFFFF"/>
                </a:solidFill>
              </a:rPr>
              <a:t>페이징</a:t>
            </a:r>
            <a:r>
              <a:rPr sz="2600" b="1" i="0" dirty="0">
                <a:solidFill>
                  <a:srgbClr val="FFFFFF"/>
                </a:solidFill>
              </a:rPr>
              <a:t>(Demand Paging</a:t>
            </a:r>
            <a:r>
              <a:rPr sz="2600" b="1" i="0" dirty="0" smtClean="0">
                <a:solidFill>
                  <a:srgbClr val="FFFFFF"/>
                </a:solidFill>
              </a:rPr>
              <a:t>)</a:t>
            </a:r>
            <a:endParaRPr sz="2600" b="1" i="0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731520"/>
            <a:ext cx="11548872" cy="36576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8BF"/>
                </a:solidFill>
              </a:rPr>
              <a:t>필요한 순간에만 로드하고 사용 후 해제하는 Addressables 에셋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530352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300" b="1" dirty="0" smtClean="0">
                <a:solidFill>
                  <a:srgbClr val="FFD04A"/>
                </a:solidFill>
              </a:rPr>
              <a:t>요구</a:t>
            </a:r>
            <a:r>
              <a:rPr sz="1300" b="1" i="0" dirty="0" smtClean="0">
                <a:solidFill>
                  <a:srgbClr val="FFD04A"/>
                </a:solidFill>
              </a:rPr>
              <a:t> </a:t>
            </a:r>
            <a:r>
              <a:rPr sz="1300" b="1" i="0" dirty="0" err="1">
                <a:solidFill>
                  <a:srgbClr val="FFD04A"/>
                </a:solidFill>
              </a:rPr>
              <a:t>페이징이란</a:t>
            </a:r>
            <a:r>
              <a:rPr sz="1300" b="1" i="0" dirty="0">
                <a:solidFill>
                  <a:srgbClr val="FFD04A"/>
                </a:solidFill>
              </a:rPr>
              <a:t>?</a:t>
            </a:r>
          </a:p>
          <a:p>
            <a:pPr algn="l"/>
            <a:endParaRPr sz="1300" b="1" i="0" dirty="0">
              <a:solidFill>
                <a:srgbClr val="FFD04A"/>
              </a:solidFill>
            </a:endParaRPr>
          </a:p>
          <a:p>
            <a:pPr algn="l"/>
            <a:r>
              <a:rPr sz="1200" b="0" i="0" dirty="0" err="1">
                <a:solidFill>
                  <a:srgbClr val="FFFFFF"/>
                </a:solidFill>
              </a:rPr>
              <a:t>모든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데이터를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처음부터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메모리에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올리지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않고</a:t>
            </a:r>
            <a:endParaRPr sz="1200" b="0" i="0" dirty="0">
              <a:solidFill>
                <a:srgbClr val="FFFFFF"/>
              </a:solidFill>
            </a:endParaRPr>
          </a:p>
          <a:p>
            <a:pPr algn="l"/>
            <a:r>
              <a:rPr sz="1200" b="0" i="0" dirty="0" err="1">
                <a:solidFill>
                  <a:srgbClr val="FFFFFF"/>
                </a:solidFill>
              </a:rPr>
              <a:t>실제로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필요한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순간에만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로드</a:t>
            </a:r>
            <a:r>
              <a:rPr sz="1200" b="0" i="0" dirty="0">
                <a:solidFill>
                  <a:srgbClr val="FFFFFF"/>
                </a:solidFill>
              </a:rPr>
              <a:t>(Page In)</a:t>
            </a:r>
            <a:r>
              <a:rPr sz="1200" b="0" i="0" dirty="0" err="1">
                <a:solidFill>
                  <a:srgbClr val="FFFFFF"/>
                </a:solidFill>
              </a:rPr>
              <a:t>하고</a:t>
            </a:r>
            <a:endParaRPr sz="1200" b="0" i="0" dirty="0">
              <a:solidFill>
                <a:srgbClr val="FFFFFF"/>
              </a:solidFill>
            </a:endParaRPr>
          </a:p>
          <a:p>
            <a:pPr algn="l"/>
            <a:r>
              <a:rPr sz="1200" b="0" i="0" dirty="0" err="1">
                <a:solidFill>
                  <a:srgbClr val="FFFFFF"/>
                </a:solidFill>
              </a:rPr>
              <a:t>사용이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끝나면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메모리에서</a:t>
            </a:r>
            <a:r>
              <a:rPr sz="1200" b="0" i="0" dirty="0">
                <a:solidFill>
                  <a:srgbClr val="FFFFFF"/>
                </a:solidFill>
              </a:rPr>
              <a:t> </a:t>
            </a:r>
            <a:r>
              <a:rPr sz="1200" b="0" i="0" dirty="0" err="1">
                <a:solidFill>
                  <a:srgbClr val="FFFFFF"/>
                </a:solidFill>
              </a:rPr>
              <a:t>해제</a:t>
            </a:r>
            <a:r>
              <a:rPr sz="1200" b="0" i="0" dirty="0">
                <a:solidFill>
                  <a:srgbClr val="FFFFFF"/>
                </a:solidFill>
              </a:rPr>
              <a:t>(Page Out)</a:t>
            </a:r>
            <a:r>
              <a:rPr sz="1200" b="0" i="0" dirty="0" err="1">
                <a:solidFill>
                  <a:srgbClr val="FFFFFF"/>
                </a:solidFill>
              </a:rPr>
              <a:t>한다</a:t>
            </a:r>
            <a:r>
              <a:rPr sz="1200" b="0" i="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154680"/>
            <a:ext cx="5120640" cy="347472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68112" y="3154680"/>
            <a:ext cx="5486400" cy="347472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가상 메모리 (OS)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32004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ResourceLoader (프로젝트)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547872"/>
            <a:ext cx="5120640" cy="411480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68112" y="3547872"/>
            <a:ext cx="5486400" cy="411480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6210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8BF"/>
                </a:solidFill>
              </a:rPr>
              <a:t>논리 주소로 접근 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6210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FF72"/>
                </a:solidFill>
              </a:rPr>
              <a:t>string address(key)로 로드 요청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986783"/>
            <a:ext cx="5120640" cy="411480"/>
          </a:xfrm>
          <a:prstGeom prst="rect">
            <a:avLst/>
          </a:prstGeom>
          <a:solidFill>
            <a:srgbClr val="10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68112" y="3986783"/>
            <a:ext cx="5486400" cy="411480"/>
          </a:xfrm>
          <a:prstGeom prst="rect">
            <a:avLst/>
          </a:prstGeom>
          <a:solidFill>
            <a:srgbClr val="10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059935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8BF"/>
                </a:solidFill>
              </a:rPr>
              <a:t>Page Table 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059935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FF72"/>
                </a:solidFill>
              </a:rPr>
              <a:t>ExistsInAddressables()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425696"/>
            <a:ext cx="5120640" cy="411480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68112" y="4425696"/>
            <a:ext cx="5486400" cy="411480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498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8BF"/>
                </a:solidFill>
              </a:rPr>
              <a:t>Page Fault → 디스크 로드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4988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FF72"/>
                </a:solidFill>
              </a:rPr>
              <a:t>LoadAssetAsync&lt;T&gt;() 실행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864608"/>
            <a:ext cx="5120640" cy="411480"/>
          </a:xfrm>
          <a:prstGeom prst="rect">
            <a:avLst/>
          </a:prstGeom>
          <a:solidFill>
            <a:srgbClr val="10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68112" y="4864608"/>
            <a:ext cx="5486400" cy="411480"/>
          </a:xfrm>
          <a:prstGeom prst="rect">
            <a:avLst/>
          </a:prstGeom>
          <a:solidFill>
            <a:srgbClr val="10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9377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8BF"/>
                </a:solidFill>
              </a:rPr>
              <a:t>물리 메모리에 Page 배치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9377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FF72"/>
                </a:solidFill>
              </a:rPr>
              <a:t>AsyncOperationHandle 반환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303520"/>
            <a:ext cx="5120640" cy="411480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468112" y="5303520"/>
            <a:ext cx="5486400" cy="411480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53766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A8BF"/>
                </a:solidFill>
              </a:rPr>
              <a:t>Page 교체 (해제)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537667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FF72"/>
                </a:solidFill>
              </a:rPr>
              <a:t>Addressables.Release(handle)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080760"/>
            <a:ext cx="11548872" cy="566928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0040" y="6080760"/>
            <a:ext cx="54864" cy="566928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" y="6172200"/>
            <a:ext cx="11347704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E7687"/>
                </a:solidFill>
                <a:latin typeface="Consolas"/>
              </a:rPr>
              <a:t>// ResourceLoader.cs — 수요 페이징 흐름</a:t>
            </a: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bool exists = await ExistsInAddressables(address, token);</a:t>
            </a:r>
          </a:p>
          <a:p>
            <a:r>
              <a:rPr sz="1050">
                <a:solidFill>
                  <a:srgbClr val="6E7687"/>
                </a:solidFill>
                <a:latin typeface="Consolas"/>
              </a:rPr>
              <a:t>// Page Fault 감지: 없으면 로드 불필요</a:t>
            </a:r>
          </a:p>
          <a:p>
            <a:endParaRPr sz="1050">
              <a:solidFill>
                <a:srgbClr val="6E7687"/>
              </a:solidFill>
              <a:latin typeface="Consolas"/>
            </a:endParaRP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var handle = Addressables.LoadAssetAsync&lt;T&gt;(address); // Page In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await handle.ToUniTask(cancellationToken: token);</a:t>
            </a:r>
          </a:p>
          <a:p>
            <a:endParaRPr sz="1050">
              <a:solidFill>
                <a:srgbClr val="FFFFFF"/>
              </a:solidFill>
              <a:latin typeface="Consolas"/>
            </a:endParaRPr>
          </a:p>
          <a:p>
            <a:r>
              <a:rPr sz="1050">
                <a:solidFill>
                  <a:srgbClr val="6E7687"/>
                </a:solidFill>
                <a:latin typeface="Consolas"/>
              </a:rPr>
              <a:t>// 사용 후 해제 — Page Out (메모리 반환)</a:t>
            </a: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Addressables.Release(handle);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155448"/>
            <a:ext cx="1737360" cy="420624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5544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46304"/>
            <a:ext cx="9692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메모리 풀(Memory Pool) — ObjectPool.cs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31520"/>
            <a:ext cx="11548872" cy="36576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8BF"/>
                </a:solidFill>
              </a:rPr>
              <a:t>수업 예제 4(C# ObjectPool)와 동일한 구조를 프로젝트에 직접 구현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5349240" cy="347472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960120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수업 예제 (C# ObjectPool)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97880" y="960120"/>
            <a:ext cx="5989320" cy="347472"/>
          </a:xfrm>
          <a:prstGeom prst="rect">
            <a:avLst/>
          </a:prstGeom>
          <a:solidFill>
            <a:srgbClr val="1A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97880" y="960120"/>
            <a:ext cx="5989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프로젝트 구현 (ObjectPool.cs)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353312"/>
            <a:ext cx="5349240" cy="352044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1353312"/>
            <a:ext cx="54864" cy="35204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" y="1444752"/>
            <a:ext cx="5148072" cy="33558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FFFFFF"/>
                </a:solidFill>
                <a:latin typeface="Consolas"/>
              </a:rPr>
              <a:t>class ObjectPool&lt;T&gt; where T : new()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{</a:t>
            </a:r>
          </a:p>
          <a:p>
            <a:r>
              <a:rPr sz="1050">
                <a:solidFill>
                  <a:srgbClr val="6E7687"/>
                </a:solidFill>
                <a:latin typeface="Consolas"/>
              </a:rPr>
              <a:t>    // Stack 기반 풀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private Stack&lt;T&gt; _pool = new Stack&lt;T&gt;();</a:t>
            </a:r>
          </a:p>
          <a:p>
            <a:endParaRPr sz="1050">
              <a:solidFill>
                <a:srgbClr val="FFFFFF"/>
              </a:solidFill>
              <a:latin typeface="Consolas"/>
            </a:endParaRP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public T Get()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{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    return _pool.Count &gt; 0</a:t>
            </a: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            ? _pool.Pop() : new T();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}</a:t>
            </a:r>
          </a:p>
          <a:p>
            <a:endParaRPr sz="1050">
              <a:solidFill>
                <a:srgbClr val="FFFFFF"/>
              </a:solidFill>
              <a:latin typeface="Consolas"/>
            </a:endParaRP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public void Return(T item)</a:t>
            </a: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    {   _pool.Push(item); }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353312"/>
            <a:ext cx="5989320" cy="384048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97880" y="1353312"/>
            <a:ext cx="54864" cy="384048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07608" y="1444752"/>
            <a:ext cx="5788152" cy="3675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FFFFFF"/>
                </a:solidFill>
                <a:latin typeface="Consolas"/>
              </a:rPr>
              <a:t>public class ObjectPool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{</a:t>
            </a:r>
          </a:p>
          <a:p>
            <a:r>
              <a:rPr sz="1050">
                <a:solidFill>
                  <a:srgbClr val="6E7687"/>
                </a:solidFill>
                <a:latin typeface="Consolas"/>
              </a:rPr>
              <a:t>    // Queue 기반 풀 (선입선출)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private Queue&lt;GameObject&gt; pool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    = new Queue&lt;GameObject&gt;();</a:t>
            </a:r>
          </a:p>
          <a:p>
            <a:endParaRPr sz="1050">
              <a:solidFill>
                <a:srgbClr val="FFFFFF"/>
              </a:solidFill>
              <a:latin typeface="Consolas"/>
            </a:endParaRP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public GameObject Get()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{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    var obj = pool.Dequeue();</a:t>
            </a: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        obj.SetActive(true);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    return obj;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}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public void Return(GameObject obj)</a:t>
            </a: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    {   obj.SetActive(false);</a:t>
            </a: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        pool.Enqueue(obj); }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983480"/>
            <a:ext cx="11548872" cy="320040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029200"/>
            <a:ext cx="11292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D04A"/>
                </a:solidFill>
              </a:rPr>
              <a:t>공통 핵심: 사전 할당 → Get/Return으로 재사용 → new/Destroy 없음 → GC Allocation 0회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394960"/>
            <a:ext cx="115488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04A"/>
                </a:solidFill>
              </a:rPr>
              <a:t>실제 사용 위치 (PoolManager.cs)</a:t>
            </a:r>
          </a:p>
          <a:p>
            <a:pPr algn="l"/>
            <a:endParaRPr sz="1200" b="1" i="0">
              <a:solidFill>
                <a:srgbClr val="FFD04A"/>
              </a:solidFill>
            </a:endParaRPr>
          </a:p>
          <a:p>
            <a:pPr algn="l"/>
            <a:r>
              <a:rPr sz="1100" b="0" i="0">
                <a:solidFill>
                  <a:srgbClr val="FFFFFF"/>
                </a:solidFill>
              </a:rPr>
              <a:t>· 대사창 UI 오브젝트 → 대화마다 반복 생성/삭제 대신 풀에서 재사용</a:t>
            </a:r>
          </a:p>
          <a:p>
            <a:pPr algn="l"/>
            <a:r>
              <a:rPr sz="1100" b="0" i="0">
                <a:solidFill>
                  <a:srgbClr val="FFFFFF"/>
                </a:solidFill>
              </a:rPr>
              <a:t>· 선택지 버튼 UI → 선택지 개수만큼 꺼내고 대화 종료 시 반납</a:t>
            </a:r>
          </a:p>
          <a:p>
            <a:pPr algn="l"/>
            <a:r>
              <a:rPr sz="1100" b="0" i="0">
                <a:solidFill>
                  <a:srgbClr val="6BFF72"/>
                </a:solidFill>
              </a:rPr>
              <a:t>· initialSize개 미리 생성 → 게임 중 GC 발동 없음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155448"/>
            <a:ext cx="1737360" cy="420624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5544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7주차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46304"/>
            <a:ext cx="9692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데이터 지역성 — LiquidCell.cs (struct)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31520"/>
            <a:ext cx="11548872" cy="36576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8BF"/>
                </a:solidFill>
              </a:rPr>
              <a:t>수업 예제 2(AoS vs SoA)와 연결 — struct로 구현한 설계 의도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04A"/>
                </a:solidFill>
              </a:rPr>
              <a:t>수업 예제 2: AoS vs SoA</a:t>
            </a:r>
          </a:p>
          <a:p>
            <a:pPr algn="l"/>
            <a:endParaRPr sz="1300" b="1" i="0">
              <a:solidFill>
                <a:srgbClr val="FFD04A"/>
              </a:solidFill>
            </a:endParaRPr>
          </a:p>
          <a:p>
            <a:pPr algn="l"/>
            <a:r>
              <a:rPr sz="1200" b="0" i="0">
                <a:solidFill>
                  <a:srgbClr val="FFFFFF"/>
                </a:solidFill>
              </a:rPr>
              <a:t>AoS(Array of Structures): 객체마다 모든 필드를 가짐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SoA(Structure of Arrays): 같은 필드끼리 배열로 분리</a:t>
            </a:r>
          </a:p>
          <a:p>
            <a:pPr algn="l"/>
            <a:endParaRPr sz="1200" b="0" i="0">
              <a:solidFill>
                <a:srgbClr val="FFFFFF"/>
              </a:solidFill>
            </a:endParaRPr>
          </a:p>
          <a:p>
            <a:pPr algn="l"/>
            <a:r>
              <a:rPr sz="1200" b="0" i="0">
                <a:solidFill>
                  <a:srgbClr val="6BFF72"/>
                </a:solidFill>
              </a:rPr>
              <a:t>SoA가 x만 연속 접근할 때 캐시 효율이 더 높다.</a:t>
            </a:r>
          </a:p>
          <a:p>
            <a:pPr algn="l"/>
            <a:endParaRPr sz="1200" b="0" i="0">
              <a:solidFill>
                <a:srgbClr val="6BFF72"/>
              </a:solidFill>
            </a:endParaRPr>
          </a:p>
          <a:p>
            <a:pPr algn="l"/>
            <a:r>
              <a:rPr sz="1300" b="1" i="0">
                <a:solidFill>
                  <a:srgbClr val="FFD04A"/>
                </a:solidFill>
              </a:rPr>
              <a:t>프로젝트에서의 선택</a:t>
            </a:r>
          </a:p>
          <a:p>
            <a:pPr algn="l"/>
            <a:endParaRPr sz="1300" b="1" i="0">
              <a:solidFill>
                <a:srgbClr val="FFD04A"/>
              </a:solidFill>
            </a:endParaRPr>
          </a:p>
          <a:p>
            <a:pPr algn="l"/>
            <a:r>
              <a:rPr sz="1200" b="0" i="0">
                <a:solidFill>
                  <a:srgbClr val="FFFFFF"/>
                </a:solidFill>
              </a:rPr>
              <a:t>LiquidCell을 struct(값 타입)로 정의하여</a:t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LiquidCell[,] 2D 배열 내에 연속 저장 → AoS 방식</a:t>
            </a:r>
          </a:p>
          <a:p>
            <a:pPr algn="l"/>
            <a:r>
              <a:rPr sz="1200" b="0" i="0">
                <a:solidFill>
                  <a:srgbClr val="6BFF72"/>
                </a:solidFill>
              </a:rPr>
              <a:t>힙 할당 없음, GC 없음, 포인터 추적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960120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5230"/>
                </a:solidFill>
              </a:rPr>
              <a:t>수업 예제 AoS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960120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FF72"/>
                </a:solidFill>
              </a:rPr>
              <a:t>프로젝트 LiquidCell (AoS)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353312"/>
            <a:ext cx="685800" cy="146304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70448" y="1371600"/>
            <a:ext cx="649224" cy="320040"/>
          </a:xfrm>
          <a:prstGeom prst="rect">
            <a:avLst/>
          </a:prstGeom>
          <a:solidFill>
            <a:srgbClr val="0F3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70448" y="1399032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70448" y="1719072"/>
            <a:ext cx="649224" cy="3200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0448" y="1746504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0448" y="2066543"/>
            <a:ext cx="649224" cy="320040"/>
          </a:xfrm>
          <a:prstGeom prst="rect">
            <a:avLst/>
          </a:prstGeom>
          <a:solidFill>
            <a:srgbClr val="0F3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70448" y="2093976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70448" y="2414016"/>
            <a:ext cx="649224" cy="3200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0448" y="2441448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velocity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1353312"/>
            <a:ext cx="685800" cy="146304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620256" y="1371600"/>
            <a:ext cx="649224" cy="320040"/>
          </a:xfrm>
          <a:prstGeom prst="rect">
            <a:avLst/>
          </a:prstGeom>
          <a:solidFill>
            <a:srgbClr val="0F3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0256" y="1399032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0256" y="1719072"/>
            <a:ext cx="649224" cy="3200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20256" y="1746504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0256" y="2066543"/>
            <a:ext cx="649224" cy="320040"/>
          </a:xfrm>
          <a:prstGeom prst="rect">
            <a:avLst/>
          </a:prstGeom>
          <a:solidFill>
            <a:srgbClr val="0F3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0256" y="2093976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z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0256" y="2414016"/>
            <a:ext cx="649224" cy="3200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0256" y="2441448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velocity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51776" y="1353312"/>
            <a:ext cx="685800" cy="1463040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70064" y="1371600"/>
            <a:ext cx="649224" cy="320040"/>
          </a:xfrm>
          <a:prstGeom prst="rect">
            <a:avLst/>
          </a:prstGeom>
          <a:solidFill>
            <a:srgbClr val="0F3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70064" y="1399032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70064" y="1719072"/>
            <a:ext cx="649224" cy="3200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70064" y="1746504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70064" y="2066543"/>
            <a:ext cx="649224" cy="320040"/>
          </a:xfrm>
          <a:prstGeom prst="rect">
            <a:avLst/>
          </a:prstGeom>
          <a:solidFill>
            <a:srgbClr val="0F3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70064" y="2093976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70064" y="2414016"/>
            <a:ext cx="649224" cy="3200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70064" y="2441448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velocity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28529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A8BF"/>
                </a:solidFill>
              </a:rPr>
              <a:t>Particle[0]  Particle[1]  Particle[2]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1353312"/>
            <a:ext cx="685800" cy="1463040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887968" y="1371600"/>
            <a:ext cx="649224" cy="32004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87968" y="1399032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liquid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87968" y="1719072"/>
            <a:ext cx="649224" cy="320040"/>
          </a:xfrm>
          <a:prstGeom prst="rect">
            <a:avLst/>
          </a:prstGeom>
          <a:solidFill>
            <a:srgbClr val="3DC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87968" y="1746504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87968" y="2066543"/>
            <a:ext cx="649224" cy="3200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87968" y="2093976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densit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87968" y="2414016"/>
            <a:ext cx="649224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87968" y="2441448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mixRat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619488" y="1353312"/>
            <a:ext cx="685800" cy="1463040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637776" y="1371600"/>
            <a:ext cx="649224" cy="32004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37776" y="1399032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liquid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37776" y="1719072"/>
            <a:ext cx="649224" cy="320040"/>
          </a:xfrm>
          <a:prstGeom prst="rect">
            <a:avLst/>
          </a:prstGeom>
          <a:solidFill>
            <a:srgbClr val="3DC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637776" y="1746504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37776" y="2066543"/>
            <a:ext cx="649224" cy="3200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637776" y="2093976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densit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37776" y="2414016"/>
            <a:ext cx="649224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37776" y="2441448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mixRat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69296" y="1353312"/>
            <a:ext cx="685800" cy="1463040"/>
          </a:xfrm>
          <a:prstGeom prst="rect">
            <a:avLst/>
          </a:prstGeom>
          <a:solidFill>
            <a:srgbClr val="1A3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387584" y="1371600"/>
            <a:ext cx="649224" cy="32004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387584" y="1399032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liquid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87584" y="1719072"/>
            <a:ext cx="649224" cy="320040"/>
          </a:xfrm>
          <a:prstGeom prst="rect">
            <a:avLst/>
          </a:prstGeom>
          <a:solidFill>
            <a:srgbClr val="3DC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387584" y="1746504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color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387584" y="2066543"/>
            <a:ext cx="649224" cy="3200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387584" y="2093976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densit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387584" y="2414016"/>
            <a:ext cx="649224" cy="3200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387584" y="2441448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mixRat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69680" y="28529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A8BF"/>
                </a:solidFill>
              </a:rPr>
              <a:t>Cell[0,0]    Cell[1,0]    Cell[2,0]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3291840"/>
            <a:ext cx="11548872" cy="333756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20040" y="3291840"/>
            <a:ext cx="54864" cy="333756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29768" y="3383280"/>
            <a:ext cx="11347704" cy="3172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E7687"/>
                </a:solidFill>
                <a:latin typeface="Consolas"/>
              </a:rPr>
              <a:t>// LiquidCell.cs — class 대신 struct (AoS 방식)</a:t>
            </a: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public struct LiquidCell  // 힙 할당 없음, GC 없음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{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public LiquidType liquidType; // 4 bytes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public Color32    color;      // 4 bytes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public float      density;    // 4 bytes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public float      mixRatio;   // 4 bytes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public float      velocityX, velocityY;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}</a:t>
            </a:r>
          </a:p>
          <a:p>
            <a:r>
              <a:rPr sz="1050">
                <a:solidFill>
                  <a:srgbClr val="6E7687"/>
                </a:solidFill>
                <a:latin typeface="Consolas"/>
              </a:rPr>
              <a:t>// LiquidGrid.cs</a:t>
            </a: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public LiquidCell[,] Cells;  // 연속 2D 배열</a:t>
            </a: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ref LiquidCell c = ref Cells[x, y]; // 복사 없이 직접 접근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6656832"/>
            <a:ext cx="11548872" cy="155448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57200" y="6675120"/>
            <a:ext cx="11292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A8BF"/>
                </a:solidFill>
              </a:rPr>
              <a:t>  ※ LiquidCell/LiquidGrid는 현재 게임 미사용 — 데이터 지역성을 고려한 설계 의도로 발표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155448"/>
            <a:ext cx="1737360" cy="420624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55448"/>
            <a:ext cx="1737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7주차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46304"/>
            <a:ext cx="9692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캐시 일관성 — LiquidRenderer.cs 루프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31520"/>
            <a:ext cx="11548872" cy="36576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8BF"/>
                </a:solidFill>
              </a:rPr>
              <a:t>실제 코드에서 발견한 캐시 비친화적 접근 패턴과 개선 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60120"/>
            <a:ext cx="1154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04A"/>
                </a:solidFill>
              </a:rPr>
              <a:t>C# 2D 배열은 행 우선(Row-Major) 저장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53312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array[x, y] 에서 x가 행(row) — x가 바뀔 때 메모리 주소가 Width만큼 점프 → 캐시 미스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5532120" cy="329184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737360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현재 코드 — 캐시 비친화적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103120"/>
            <a:ext cx="5532120" cy="256032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2103120"/>
            <a:ext cx="54864" cy="256032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" y="2194560"/>
            <a:ext cx="5330952" cy="2395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E7687"/>
                </a:solidFill>
                <a:latin typeface="Consolas"/>
              </a:rPr>
              <a:t>// LiquidRenderer.cs (현재)</a:t>
            </a:r>
          </a:p>
          <a:p>
            <a:r>
              <a:rPr sz="1050">
                <a:solidFill>
                  <a:srgbClr val="FFA657"/>
                </a:solidFill>
                <a:latin typeface="Consolas"/>
              </a:rPr>
              <a:t>for (int x = 0; x &lt; gridWidth; x++)</a:t>
            </a:r>
          </a:p>
          <a:p>
            <a:r>
              <a:rPr sz="1050">
                <a:solidFill>
                  <a:srgbClr val="FFA657"/>
                </a:solidFill>
                <a:latin typeface="Consolas"/>
              </a:rPr>
              <a:t>    for (int y = 0; y &lt; gridHeight; y++)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{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    int idx = y * gridWidth + x;</a:t>
            </a:r>
          </a:p>
          <a:p>
            <a:r>
              <a:rPr sz="1050">
                <a:solidFill>
                  <a:srgbClr val="FFA657"/>
                </a:solidFill>
                <a:latin typeface="Consolas"/>
              </a:rPr>
              <a:t>        buf[idx] = cells[x, y].color;</a:t>
            </a:r>
          </a:p>
          <a:p>
            <a:r>
              <a:rPr sz="1050">
                <a:solidFill>
                  <a:srgbClr val="6E7687"/>
                </a:solidFill>
                <a:latin typeface="Consolas"/>
              </a:rPr>
              <a:t>        // x 고정, y 변화</a:t>
            </a:r>
          </a:p>
          <a:p>
            <a:r>
              <a:rPr sz="1050">
                <a:solidFill>
                  <a:srgbClr val="6E7687"/>
                </a:solidFill>
                <a:latin typeface="Consolas"/>
              </a:rPr>
              <a:t>        // → 메모리 주소가 gridWidth씩 점프</a:t>
            </a:r>
          </a:p>
          <a:p>
            <a:r>
              <a:rPr sz="1050">
                <a:solidFill>
                  <a:srgbClr val="FFA657"/>
                </a:solidFill>
                <a:latin typeface="Consolas"/>
              </a:rPr>
              <a:t>        // → 캐시 미스 반복!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37360"/>
            <a:ext cx="5833872" cy="329184"/>
          </a:xfrm>
          <a:prstGeom prst="rect">
            <a:avLst/>
          </a:prstGeom>
          <a:solidFill>
            <a:srgbClr val="3DC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1737360"/>
            <a:ext cx="5833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개선 코드 — 캐시 친화적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103120"/>
            <a:ext cx="5833872" cy="2560320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35040" y="2103120"/>
            <a:ext cx="54864" cy="256032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2194560"/>
            <a:ext cx="5632704" cy="23957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6E7687"/>
                </a:solidFill>
                <a:latin typeface="Consolas"/>
              </a:rPr>
              <a:t>// 루프 순서만 변경</a:t>
            </a: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for (int y = 0; y &lt; gridHeight; y++)</a:t>
            </a: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    for (int x = 0; x &lt; gridWidth; x++)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{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    int idx = y * gridWidth + x;</a:t>
            </a: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        buf[idx] = cells[x, y].color;</a:t>
            </a:r>
          </a:p>
          <a:p>
            <a:r>
              <a:rPr sz="1050">
                <a:solidFill>
                  <a:srgbClr val="6E7687"/>
                </a:solidFill>
                <a:latin typeface="Consolas"/>
              </a:rPr>
              <a:t>        // y 고정, x 변화</a:t>
            </a:r>
          </a:p>
          <a:p>
            <a:r>
              <a:rPr sz="1050">
                <a:solidFill>
                  <a:srgbClr val="6E7687"/>
                </a:solidFill>
                <a:latin typeface="Consolas"/>
              </a:rPr>
              <a:t>        // → 메모리 주소가 1씩 순차 증가</a:t>
            </a:r>
          </a:p>
          <a:p>
            <a:r>
              <a:rPr sz="1050">
                <a:solidFill>
                  <a:srgbClr val="6BFF72"/>
                </a:solidFill>
                <a:latin typeface="Consolas"/>
              </a:rPr>
              <a:t>        // → 캐시 히트!</a:t>
            </a:r>
          </a:p>
          <a:p>
            <a:r>
              <a:rPr sz="1050">
                <a:solidFill>
                  <a:srgbClr val="FFFFFF"/>
                </a:solidFill>
                <a:latin typeface="Consolas"/>
              </a:rPr>
              <a:t>   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773168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04A"/>
                </a:solidFill>
              </a:rPr>
              <a:t>메모리 주소 배치 (Width=4 예시)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138928"/>
            <a:ext cx="1307592" cy="65836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5175504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[0,0]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46811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AA8BF"/>
                </a:solidFill>
              </a:rPr>
              <a:t>addr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5138928"/>
            <a:ext cx="1307592" cy="65836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37360" y="5175504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[0,1]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546811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AA8BF"/>
                </a:solidFill>
              </a:rPr>
              <a:t>addr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5138928"/>
            <a:ext cx="1307592" cy="65836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154680" y="5175504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[0,2]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546811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AA8BF"/>
                </a:solidFill>
              </a:rPr>
              <a:t>addr 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5138928"/>
            <a:ext cx="1307592" cy="65836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5175504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[0,3]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46811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AA8BF"/>
                </a:solidFill>
              </a:rPr>
              <a:t>addr 12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5138928"/>
            <a:ext cx="1307592" cy="658368"/>
          </a:xfrm>
          <a:prstGeom prst="rect">
            <a:avLst/>
          </a:prstGeom>
          <a:solidFill>
            <a:srgbClr val="1A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89320" y="5175504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[1,0]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546811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AA8BF"/>
                </a:solidFill>
              </a:rPr>
              <a:t>addr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5138928"/>
            <a:ext cx="1307592" cy="658368"/>
          </a:xfrm>
          <a:prstGeom prst="rect">
            <a:avLst/>
          </a:prstGeom>
          <a:solidFill>
            <a:srgbClr val="1A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0" y="5175504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[1,1]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546811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AA8BF"/>
                </a:solidFill>
              </a:rPr>
              <a:t>addr 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23960" y="5138928"/>
            <a:ext cx="1307592" cy="658368"/>
          </a:xfrm>
          <a:prstGeom prst="rect">
            <a:avLst/>
          </a:prstGeom>
          <a:solidFill>
            <a:srgbClr val="1A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823960" y="5175504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[1,2]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546811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AA8BF"/>
                </a:solidFill>
              </a:rPr>
              <a:t>addr 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41280" y="5138928"/>
            <a:ext cx="1307592" cy="658368"/>
          </a:xfrm>
          <a:prstGeom prst="rect">
            <a:avLst/>
          </a:prstGeom>
          <a:solidFill>
            <a:srgbClr val="1A4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41280" y="5175504"/>
            <a:ext cx="1307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[1,3]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546811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AA8BF"/>
                </a:solidFill>
              </a:rPr>
              <a:t>addr 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5870448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657"/>
                </a:solidFill>
              </a:rPr>
              <a:t>현재(x고정): [0,0]→[0,1]→[0,2] 주소 0→4→8 (4칸 점프) → 캐시 미스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236208"/>
            <a:ext cx="115488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FF72"/>
                </a:solidFill>
              </a:rPr>
              <a:t>개선(y고정): [0,0]→[1,0]→[2,0] 주소 0→1→2 (연속) → 캐시 히트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9692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종합 정리 — 주차별 구현 요약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31520"/>
            <a:ext cx="11548872" cy="36576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1640312" cy="676656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64008" cy="676656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6FC4"/>
                </a:solidFill>
              </a:rPr>
              <a:t>2주차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09728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시스템 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09728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FF72"/>
                </a:solidFill>
              </a:rPr>
              <a:t>JsonManager.cs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99669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AA8BF"/>
                </a:solidFill>
              </a:rPr>
              <a:t>File.ReadAllText() → OS 파일 I/O 시스템 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29844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AA8BF"/>
                </a:solidFill>
              </a:rPr>
              <a:t>DataLoadManager에서 게임 시작 시 7개 JSON 로드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886200"/>
            <a:ext cx="11640312" cy="676656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320" y="3886200"/>
            <a:ext cx="64008" cy="676656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393192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085"/>
                </a:solidFill>
              </a:rPr>
              <a:t>6주차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02336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수요 페이징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02336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FF72"/>
                </a:solidFill>
              </a:rPr>
              <a:t>ResourceLoader.cs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392277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AA8BF"/>
                </a:solidFill>
              </a:rPr>
              <a:t>Addressables Load/Release → Page In / Page Out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22452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AA8BF"/>
                </a:solidFill>
              </a:rPr>
              <a:t>필요 시 로드, 씬 전환 시 일괄 해제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617720"/>
            <a:ext cx="11640312" cy="676656"/>
          </a:xfrm>
          <a:prstGeom prst="rect">
            <a:avLst/>
          </a:prstGeom>
          <a:solidFill>
            <a:srgbClr val="10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74320" y="4617720"/>
            <a:ext cx="64008" cy="676656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466344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04A"/>
                </a:solidFill>
              </a:rPr>
              <a:t>7주차 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475488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메모리 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475488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FF72"/>
                </a:solidFill>
              </a:rPr>
              <a:t>ObjectPool.cs + PoolManager.cs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465429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AA8BF"/>
                </a:solidFill>
              </a:rPr>
              <a:t>Queue 사전 할당 → Get/Return 재사용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95604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AA8BF"/>
                </a:solidFill>
              </a:rPr>
              <a:t>수업 예제 4와 동일한 구조, GC 0회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5349240"/>
            <a:ext cx="11640312" cy="676656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74320" y="5349240"/>
            <a:ext cx="64008" cy="676656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" y="539496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04A"/>
                </a:solidFill>
              </a:rPr>
              <a:t>7주차 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54480" y="548640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데이터 지역성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48640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FF72"/>
                </a:solidFill>
              </a:rPr>
              <a:t>LiquidCell.cs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538581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AA8BF"/>
                </a:solidFill>
              </a:rPr>
              <a:t>struct(값 타입) + 연속 2D 배열 → AoS 방식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568756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AA8BF"/>
                </a:solidFill>
              </a:rPr>
              <a:t>수업 예제 2(AoS vs SoA) 설계 의도 반영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6080760"/>
            <a:ext cx="11640312" cy="676656"/>
          </a:xfrm>
          <a:prstGeom prst="rect">
            <a:avLst/>
          </a:prstGeom>
          <a:solidFill>
            <a:srgbClr val="10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74320" y="6080760"/>
            <a:ext cx="64008" cy="676656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11480" y="6126480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04A"/>
                </a:solidFill>
              </a:rPr>
              <a:t>7주차 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54480" y="6217920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캐시 일관성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80" y="6217920"/>
            <a:ext cx="3108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FF72"/>
                </a:solidFill>
              </a:rPr>
              <a:t>LiquidRenderer.cs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0" y="611733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AA8BF"/>
                </a:solidFill>
              </a:rPr>
              <a:t>루프 순서(x↔y) 변경 → 캐시 미스 개선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80" y="641908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AA8BF"/>
                </a:solidFill>
              </a:rPr>
              <a:t>코드에서 직접 발견한 캐시 비친화적 패턴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8079" y="0"/>
            <a:ext cx="4690872" cy="6858000"/>
          </a:xfrm>
          <a:prstGeom prst="rect">
            <a:avLst/>
          </a:prstGeom>
          <a:solidFill>
            <a:srgbClr val="0B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6400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결론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5303520" cy="4572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D04A"/>
                </a:solidFill>
              </a:rPr>
              <a:t>"</a:t>
            </a:r>
            <a:r>
              <a:rPr sz="1700" b="1" i="0" dirty="0" err="1">
                <a:solidFill>
                  <a:srgbClr val="FFD04A"/>
                </a:solidFill>
              </a:rPr>
              <a:t>수업에서</a:t>
            </a:r>
            <a:r>
              <a:rPr sz="1700" b="1" i="0" dirty="0">
                <a:solidFill>
                  <a:srgbClr val="FFD04A"/>
                </a:solidFill>
              </a:rPr>
              <a:t> </a:t>
            </a:r>
            <a:r>
              <a:rPr sz="1700" b="1" i="0" dirty="0" err="1">
                <a:solidFill>
                  <a:srgbClr val="FFD04A"/>
                </a:solidFill>
              </a:rPr>
              <a:t>배운</a:t>
            </a:r>
            <a:r>
              <a:rPr sz="1700" b="1" i="0" dirty="0">
                <a:solidFill>
                  <a:srgbClr val="FFD04A"/>
                </a:solidFill>
              </a:rPr>
              <a:t> OS </a:t>
            </a:r>
            <a:r>
              <a:rPr sz="1700" b="1" i="0" dirty="0" err="1">
                <a:solidFill>
                  <a:srgbClr val="FFD04A"/>
                </a:solidFill>
              </a:rPr>
              <a:t>개념들이</a:t>
            </a:r>
            <a:r>
              <a:rPr sz="1700" b="1" i="0" dirty="0">
                <a:solidFill>
                  <a:srgbClr val="FFD04A"/>
                </a:solidFill>
              </a:rPr>
              <a:t>
</a:t>
            </a:r>
            <a:r>
              <a:rPr sz="1700" b="1" i="0" dirty="0" err="1">
                <a:solidFill>
                  <a:srgbClr val="FFD04A"/>
                </a:solidFill>
              </a:rPr>
              <a:t>이미</a:t>
            </a:r>
            <a:r>
              <a:rPr sz="1700" b="1" i="0" dirty="0">
                <a:solidFill>
                  <a:srgbClr val="FFD04A"/>
                </a:solidFill>
              </a:rPr>
              <a:t> </a:t>
            </a:r>
            <a:r>
              <a:rPr sz="1700" b="1" i="0" dirty="0" err="1">
                <a:solidFill>
                  <a:srgbClr val="FFD04A"/>
                </a:solidFill>
              </a:rPr>
              <a:t>코드</a:t>
            </a:r>
            <a:r>
              <a:rPr sz="1700" b="1" i="0" dirty="0">
                <a:solidFill>
                  <a:srgbClr val="FFD04A"/>
                </a:solidFill>
              </a:rPr>
              <a:t> </a:t>
            </a:r>
            <a:r>
              <a:rPr sz="1700" b="1" i="0" dirty="0" err="1">
                <a:solidFill>
                  <a:srgbClr val="FFD04A"/>
                </a:solidFill>
              </a:rPr>
              <a:t>안에</a:t>
            </a:r>
            <a:r>
              <a:rPr sz="1700" b="1" i="0" dirty="0">
                <a:solidFill>
                  <a:srgbClr val="FFD04A"/>
                </a:solidFill>
              </a:rPr>
              <a:t> </a:t>
            </a:r>
            <a:r>
              <a:rPr sz="1700" b="1" i="0" dirty="0" err="1">
                <a:solidFill>
                  <a:srgbClr val="FFD04A"/>
                </a:solidFill>
              </a:rPr>
              <a:t>구현되어</a:t>
            </a:r>
            <a:r>
              <a:rPr sz="1700" b="1" i="0" dirty="0">
                <a:solidFill>
                  <a:srgbClr val="FFD04A"/>
                </a:solidFill>
              </a:rPr>
              <a:t> </a:t>
            </a:r>
            <a:r>
              <a:rPr sz="1700" b="1" i="0" dirty="0" err="1">
                <a:solidFill>
                  <a:srgbClr val="FFD04A"/>
                </a:solidFill>
              </a:rPr>
              <a:t>있었다</a:t>
            </a:r>
            <a:r>
              <a:rPr sz="1700" b="1" i="0" dirty="0">
                <a:solidFill>
                  <a:srgbClr val="FFD04A"/>
                </a:solidFill>
              </a:rPr>
              <a:t>"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54864" cy="47548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5526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FC4"/>
                </a:solidFill>
              </a:rPr>
              <a:t>시스템 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25526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JsonManager — File.ReadAllText()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468112"/>
            <a:ext cx="54864" cy="47548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52297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085"/>
                </a:solidFill>
              </a:rPr>
              <a:t>수요 페이징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52297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ResourceLoader — Load/Release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035040"/>
            <a:ext cx="54864" cy="475488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6089903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04A"/>
                </a:solidFill>
              </a:rPr>
              <a:t>메모리 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089903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ObjectPool — Queue 사전 할당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601968"/>
            <a:ext cx="54864" cy="475488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6656831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04A"/>
                </a:solidFill>
              </a:rPr>
              <a:t>데이터 지역성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6656831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LiquidCell — struct AoS 설계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7168896"/>
            <a:ext cx="54864" cy="475488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7223759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04A"/>
                </a:solidFill>
              </a:rPr>
              <a:t>캐시 일관성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7223759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LiquidRenderer — 루프 순서 개선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0175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3794760"/>
            <a:ext cx="3108960" cy="45720"/>
          </a:xfrm>
          <a:prstGeom prst="rect">
            <a:avLst/>
          </a:prstGeom>
          <a:solidFill>
            <a:srgbClr val="E85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0" y="3931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AA8BF"/>
                </a:solidFill>
              </a:rPr>
              <a:t>최용근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1328</Words>
  <Application>Microsoft Office PowerPoint</Application>
  <PresentationFormat>사용자 지정</PresentationFormat>
  <Paragraphs>275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hyeon2-400</cp:lastModifiedBy>
  <cp:revision>6</cp:revision>
  <dcterms:created xsi:type="dcterms:W3CDTF">2013-01-27T09:14:16Z</dcterms:created>
  <dcterms:modified xsi:type="dcterms:W3CDTF">2026-04-22T18:17:11Z</dcterms:modified>
  <cp:category/>
</cp:coreProperties>
</file>